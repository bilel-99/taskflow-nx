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71589"/>
  </p:normalViewPr>
  <p:slideViewPr>
    <p:cSldViewPr snapToGrid="0" snapToObjects="1">
      <p:cViewPr varScale="1">
        <p:scale>
          <a:sx n="61" d="100"/>
          <a:sy n="61" d="100"/>
        </p:scale>
        <p:origin x="2456" y="496"/>
      </p:cViewPr>
      <p:guideLst/>
    </p:cSldViewPr>
  </p:slideViewPr>
  <p:notesTextViewPr>
    <p:cViewPr>
      <p:scale>
        <a:sx n="1" d="1"/>
        <a:sy n="1" d="1"/>
      </p:scale>
      <p:origin x="0" y="-23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140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kern="1200" dirty="0">
                <a:solidFill>
                  <a:schemeClr val="tx1"/>
                </a:solidFill>
                <a:effectLst/>
                <a:latin typeface="+mn-lt"/>
                <a:ea typeface="+mn-ea"/>
                <a:cs typeface="+mn-cs"/>
              </a:rPr>
              <a:t>**"Bonjour à tous,**</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Aujourd'hui, je vais vous présenter </a:t>
            </a:r>
            <a:r>
              <a:rPr lang="fr-FR" sz="1200" b="1" kern="1200" dirty="0">
                <a:solidFill>
                  <a:schemeClr val="tx1"/>
                </a:solidFill>
                <a:effectLst/>
                <a:latin typeface="+mn-lt"/>
                <a:ea typeface="+mn-ea"/>
                <a:cs typeface="+mn-cs"/>
              </a:rPr>
              <a:t>**</a:t>
            </a:r>
            <a:r>
              <a:rPr lang="fr-FR" sz="1200" b="1" kern="1200" dirty="0" err="1">
                <a:solidFill>
                  <a:schemeClr val="tx1"/>
                </a:solidFill>
                <a:effectLst/>
                <a:latin typeface="+mn-lt"/>
                <a:ea typeface="+mn-ea"/>
                <a:cs typeface="+mn-cs"/>
              </a:rPr>
              <a:t>Nx</a:t>
            </a:r>
            <a:r>
              <a:rPr lang="fr-FR" sz="1200" b="1" kern="1200" dirty="0">
                <a:solidFill>
                  <a:schemeClr val="tx1"/>
                </a:solidFill>
                <a:effectLst/>
                <a:latin typeface="+mn-lt"/>
                <a:ea typeface="+mn-ea"/>
                <a:cs typeface="+mn-cs"/>
              </a:rPr>
              <a:t>**</a:t>
            </a:r>
            <a:r>
              <a:rPr lang="fr-FR" sz="1200" b="0" kern="1200" dirty="0">
                <a:solidFill>
                  <a:schemeClr val="tx1"/>
                </a:solidFill>
                <a:effectLst/>
                <a:latin typeface="+mn-lt"/>
                <a:ea typeface="+mn-ea"/>
                <a:cs typeface="+mn-cs"/>
              </a:rPr>
              <a:t>, la solution moderne pour gérer des projets en monorepo. Pour illustrer concrètement ses capacités, j'ai préparé une application de démonstration complète : </a:t>
            </a:r>
            <a:r>
              <a:rPr lang="fr-FR" sz="1200" b="1" kern="1200" dirty="0">
                <a:solidFill>
                  <a:schemeClr val="tx1"/>
                </a:solidFill>
                <a:effectLst/>
                <a:latin typeface="+mn-lt"/>
                <a:ea typeface="+mn-ea"/>
                <a:cs typeface="+mn-cs"/>
              </a:rPr>
              <a:t>**</a:t>
            </a:r>
            <a:r>
              <a:rPr lang="fr-FR" sz="1200" b="1" kern="1200" dirty="0" err="1">
                <a:solidFill>
                  <a:schemeClr val="tx1"/>
                </a:solidFill>
                <a:effectLst/>
                <a:latin typeface="+mn-lt"/>
                <a:ea typeface="+mn-ea"/>
                <a:cs typeface="+mn-cs"/>
              </a:rPr>
              <a:t>TaskFlow</a:t>
            </a:r>
            <a:r>
              <a:rPr lang="fr-FR" sz="1200" b="1" kern="1200" dirty="0">
                <a:solidFill>
                  <a:schemeClr val="tx1"/>
                </a:solidFill>
                <a:effectLst/>
                <a:latin typeface="+mn-lt"/>
                <a:ea typeface="+mn-ea"/>
                <a:cs typeface="+mn-cs"/>
              </a:rPr>
              <a:t>**</a:t>
            </a:r>
            <a:r>
              <a:rPr lang="fr-FR" sz="1200" b="0" kern="1200" dirty="0">
                <a:solidFill>
                  <a:schemeClr val="tx1"/>
                </a:solidFill>
                <a:effectLst/>
                <a:latin typeface="+mn-lt"/>
                <a:ea typeface="+mn-ea"/>
                <a:cs typeface="+mn-cs"/>
              </a:rPr>
              <a:t>.</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Cette application combine un frontend </a:t>
            </a:r>
            <a:r>
              <a:rPr lang="fr-FR" sz="1200" b="0" kern="1200" dirty="0" err="1">
                <a:solidFill>
                  <a:schemeClr val="tx1"/>
                </a:solidFill>
                <a:effectLst/>
                <a:latin typeface="+mn-lt"/>
                <a:ea typeface="+mn-ea"/>
                <a:cs typeface="+mn-cs"/>
              </a:rPr>
              <a:t>Angular</a:t>
            </a:r>
            <a:r>
              <a:rPr lang="fr-FR" sz="1200" b="0" kern="1200" dirty="0">
                <a:solidFill>
                  <a:schemeClr val="tx1"/>
                </a:solidFill>
                <a:effectLst/>
                <a:latin typeface="+mn-lt"/>
                <a:ea typeface="+mn-ea"/>
                <a:cs typeface="+mn-cs"/>
              </a:rPr>
              <a:t>, un backend </a:t>
            </a:r>
            <a:r>
              <a:rPr lang="fr-FR" sz="1200" b="0" kern="1200" dirty="0" err="1">
                <a:solidFill>
                  <a:schemeClr val="tx1"/>
                </a:solidFill>
                <a:effectLst/>
                <a:latin typeface="+mn-lt"/>
                <a:ea typeface="+mn-ea"/>
                <a:cs typeface="+mn-cs"/>
              </a:rPr>
              <a:t>Node.js</a:t>
            </a:r>
            <a:r>
              <a:rPr lang="fr-FR" sz="1200" b="0" kern="1200" dirty="0">
                <a:solidFill>
                  <a:schemeClr val="tx1"/>
                </a:solidFill>
                <a:effectLst/>
                <a:latin typeface="+mn-lt"/>
                <a:ea typeface="+mn-ea"/>
                <a:cs typeface="+mn-cs"/>
              </a:rPr>
              <a:t> avec Express, et plusieurs librairies partagées entre les deux. C'est un exemple réel et concret de ce que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peut faire pour vos projets.</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La session durera une heure au total : 30 minutes pour vous présenter les concepts clés de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puis 30 minutes de démonstration live où vous verrez tout ça en action.</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Commençons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kern="1200" dirty="0">
                <a:solidFill>
                  <a:schemeClr val="tx1"/>
                </a:solidFill>
                <a:effectLst/>
                <a:latin typeface="+mn-lt"/>
                <a:ea typeface="+mn-ea"/>
                <a:cs typeface="+mn-cs"/>
              </a:rPr>
              <a:t>**"Avant de plonger dans le vif du sujet, voici le déroulé de cette session.**</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Nous allons passer </a:t>
            </a:r>
            <a:r>
              <a:rPr lang="fr-FR" sz="1200" b="1" kern="1200" dirty="0">
                <a:solidFill>
                  <a:schemeClr val="tx1"/>
                </a:solidFill>
                <a:effectLst/>
                <a:latin typeface="+mn-lt"/>
                <a:ea typeface="+mn-ea"/>
                <a:cs typeface="+mn-cs"/>
              </a:rPr>
              <a:t>**une heure ensemble**</a:t>
            </a:r>
            <a:r>
              <a:rPr lang="fr-FR" sz="1200" b="0" kern="1200" dirty="0">
                <a:solidFill>
                  <a:schemeClr val="tx1"/>
                </a:solidFill>
                <a:effectLst/>
                <a:latin typeface="+mn-lt"/>
                <a:ea typeface="+mn-ea"/>
                <a:cs typeface="+mn-cs"/>
              </a:rPr>
              <a:t>, découpée en deux grandes parties.</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**La première partie**</a:t>
            </a:r>
            <a:r>
              <a:rPr lang="fr-FR" sz="1200" b="0" kern="1200" dirty="0">
                <a:solidFill>
                  <a:schemeClr val="tx1"/>
                </a:solidFill>
                <a:effectLst/>
                <a:latin typeface="+mn-lt"/>
                <a:ea typeface="+mn-ea"/>
                <a:cs typeface="+mn-cs"/>
              </a:rPr>
              <a:t> durera 30 minutes. Je vais vous présenter 9 points essentiels sur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1. L'</a:t>
            </a:r>
            <a:r>
              <a:rPr lang="fr-FR" sz="1200" b="1" kern="1200" dirty="0">
                <a:solidFill>
                  <a:schemeClr val="tx1"/>
                </a:solidFill>
                <a:effectLst/>
                <a:latin typeface="+mn-lt"/>
                <a:ea typeface="+mn-ea"/>
                <a:cs typeface="+mn-cs"/>
              </a:rPr>
              <a:t>**introduction à </a:t>
            </a:r>
            <a:r>
              <a:rPr lang="fr-FR" sz="1200" b="1" kern="1200" dirty="0" err="1">
                <a:solidFill>
                  <a:schemeClr val="tx1"/>
                </a:solidFill>
                <a:effectLst/>
                <a:latin typeface="+mn-lt"/>
                <a:ea typeface="+mn-ea"/>
                <a:cs typeface="+mn-cs"/>
              </a:rPr>
              <a:t>Nx</a:t>
            </a:r>
            <a:r>
              <a:rPr lang="fr-FR" sz="1200" b="1" kern="1200" dirty="0">
                <a:solidFill>
                  <a:schemeClr val="tx1"/>
                </a:solidFill>
                <a:effectLst/>
                <a:latin typeface="+mn-lt"/>
                <a:ea typeface="+mn-ea"/>
                <a:cs typeface="+mn-cs"/>
              </a:rPr>
              <a:t> et ses 3 piliers**</a:t>
            </a:r>
            <a:r>
              <a:rPr lang="fr-FR" sz="1200" b="0" kern="1200" dirty="0">
                <a:solidFill>
                  <a:schemeClr val="tx1"/>
                </a:solidFill>
                <a:effectLst/>
                <a:latin typeface="+mn-lt"/>
                <a:ea typeface="+mn-ea"/>
                <a:cs typeface="+mn-cs"/>
              </a:rPr>
              <a:t> : le monorepo structuré, le cache intelligent, et les </a:t>
            </a:r>
            <a:r>
              <a:rPr lang="fr-FR" sz="1200" b="0" kern="1200" dirty="0" err="1">
                <a:solidFill>
                  <a:schemeClr val="tx1"/>
                </a:solidFill>
                <a:effectLst/>
                <a:latin typeface="+mn-lt"/>
                <a:ea typeface="+mn-ea"/>
                <a:cs typeface="+mn-cs"/>
              </a:rPr>
              <a:t>affected</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commands</a:t>
            </a: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2. L'</a:t>
            </a:r>
            <a:r>
              <a:rPr lang="fr-FR" sz="1200" b="1" kern="1200" dirty="0">
                <a:solidFill>
                  <a:schemeClr val="tx1"/>
                </a:solidFill>
                <a:effectLst/>
                <a:latin typeface="+mn-lt"/>
                <a:ea typeface="+mn-ea"/>
                <a:cs typeface="+mn-cs"/>
              </a:rPr>
              <a:t>**architecture de </a:t>
            </a:r>
            <a:r>
              <a:rPr lang="fr-FR" sz="1200" b="1" kern="1200" dirty="0" err="1">
                <a:solidFill>
                  <a:schemeClr val="tx1"/>
                </a:solidFill>
                <a:effectLst/>
                <a:latin typeface="+mn-lt"/>
                <a:ea typeface="+mn-ea"/>
                <a:cs typeface="+mn-cs"/>
              </a:rPr>
              <a:t>TaskFlow</a:t>
            </a:r>
            <a:r>
              <a:rPr lang="fr-FR" sz="1200" b="1" kern="1200" dirty="0">
                <a:solidFill>
                  <a:schemeClr val="tx1"/>
                </a:solidFill>
                <a:effectLst/>
                <a:latin typeface="+mn-lt"/>
                <a:ea typeface="+mn-ea"/>
                <a:cs typeface="+mn-cs"/>
              </a:rPr>
              <a:t>**</a:t>
            </a:r>
            <a:r>
              <a:rPr lang="fr-FR" sz="1200" b="0" kern="1200" dirty="0">
                <a:solidFill>
                  <a:schemeClr val="tx1"/>
                </a:solidFill>
                <a:effectLst/>
                <a:latin typeface="+mn-lt"/>
                <a:ea typeface="+mn-ea"/>
                <a:cs typeface="+mn-cs"/>
              </a:rPr>
              <a:t> : comment nous avons organisé notre monorepo</a:t>
            </a:r>
          </a:p>
          <a:p>
            <a:r>
              <a:rPr lang="fr-FR" sz="1200" b="0" kern="1200" dirty="0">
                <a:solidFill>
                  <a:schemeClr val="tx1"/>
                </a:solidFill>
                <a:effectLst/>
                <a:latin typeface="+mn-lt"/>
                <a:ea typeface="+mn-ea"/>
                <a:cs typeface="+mn-cs"/>
              </a:rPr>
              <a:t>3. Les </a:t>
            </a:r>
            <a:r>
              <a:rPr lang="fr-FR" sz="1200" b="1" kern="1200" dirty="0">
                <a:solidFill>
                  <a:schemeClr val="tx1"/>
                </a:solidFill>
                <a:effectLst/>
                <a:latin typeface="+mn-lt"/>
                <a:ea typeface="+mn-ea"/>
                <a:cs typeface="+mn-cs"/>
              </a:rPr>
              <a:t>**problèmes que </a:t>
            </a:r>
            <a:r>
              <a:rPr lang="fr-FR" sz="1200" b="1" kern="1200" dirty="0" err="1">
                <a:solidFill>
                  <a:schemeClr val="tx1"/>
                </a:solidFill>
                <a:effectLst/>
                <a:latin typeface="+mn-lt"/>
                <a:ea typeface="+mn-ea"/>
                <a:cs typeface="+mn-cs"/>
              </a:rPr>
              <a:t>Nx</a:t>
            </a:r>
            <a:r>
              <a:rPr lang="fr-FR" sz="1200" b="1" kern="1200" dirty="0">
                <a:solidFill>
                  <a:schemeClr val="tx1"/>
                </a:solidFill>
                <a:effectLst/>
                <a:latin typeface="+mn-lt"/>
                <a:ea typeface="+mn-ea"/>
                <a:cs typeface="+mn-cs"/>
              </a:rPr>
              <a:t> résout**</a:t>
            </a:r>
            <a:r>
              <a:rPr lang="fr-FR" sz="1200" b="0" kern="1200" dirty="0">
                <a:solidFill>
                  <a:schemeClr val="tx1"/>
                </a:solidFill>
                <a:effectLst/>
                <a:latin typeface="+mn-lt"/>
                <a:ea typeface="+mn-ea"/>
                <a:cs typeface="+mn-cs"/>
              </a:rPr>
              <a:t> : avant et après</a:t>
            </a:r>
          </a:p>
          <a:p>
            <a:r>
              <a:rPr lang="fr-FR" sz="1200" b="0" kern="1200" dirty="0">
                <a:solidFill>
                  <a:schemeClr val="tx1"/>
                </a:solidFill>
                <a:effectLst/>
                <a:latin typeface="+mn-lt"/>
                <a:ea typeface="+mn-ea"/>
                <a:cs typeface="+mn-cs"/>
              </a:rPr>
              <a:t>4. Le </a:t>
            </a:r>
            <a:r>
              <a:rPr lang="fr-FR" sz="1200" b="1" kern="1200" dirty="0">
                <a:solidFill>
                  <a:schemeClr val="tx1"/>
                </a:solidFill>
                <a:effectLst/>
                <a:latin typeface="+mn-lt"/>
                <a:ea typeface="+mn-ea"/>
                <a:cs typeface="+mn-cs"/>
              </a:rPr>
              <a:t>**graphe de dépendances**</a:t>
            </a:r>
            <a:r>
              <a:rPr lang="fr-FR" sz="1200" b="0" kern="1200" dirty="0">
                <a:solidFill>
                  <a:schemeClr val="tx1"/>
                </a:solidFill>
                <a:effectLst/>
                <a:latin typeface="+mn-lt"/>
                <a:ea typeface="+mn-ea"/>
                <a:cs typeface="+mn-cs"/>
              </a:rPr>
              <a:t> : visualisation et analyse d'impact</a:t>
            </a:r>
          </a:p>
          <a:p>
            <a:r>
              <a:rPr lang="fr-FR" sz="1200" b="0" kern="1200" dirty="0">
                <a:solidFill>
                  <a:schemeClr val="tx1"/>
                </a:solidFill>
                <a:effectLst/>
                <a:latin typeface="+mn-lt"/>
                <a:ea typeface="+mn-ea"/>
                <a:cs typeface="+mn-cs"/>
              </a:rPr>
              <a:t>5. Le </a:t>
            </a:r>
            <a:r>
              <a:rPr lang="fr-FR" sz="1200" b="1" kern="1200" dirty="0">
                <a:solidFill>
                  <a:schemeClr val="tx1"/>
                </a:solidFill>
                <a:effectLst/>
                <a:latin typeface="+mn-lt"/>
                <a:ea typeface="+mn-ea"/>
                <a:cs typeface="+mn-cs"/>
              </a:rPr>
              <a:t>**cache intelligent**</a:t>
            </a:r>
            <a:r>
              <a:rPr lang="fr-FR" sz="1200" b="0" kern="1200" dirty="0">
                <a:solidFill>
                  <a:schemeClr val="tx1"/>
                </a:solidFill>
                <a:effectLst/>
                <a:latin typeface="+mn-lt"/>
                <a:ea typeface="+mn-ea"/>
                <a:cs typeface="+mn-cs"/>
              </a:rPr>
              <a:t> : des gains de performance jusqu'à 300 fois</a:t>
            </a:r>
          </a:p>
          <a:p>
            <a:r>
              <a:rPr lang="fr-FR" sz="1200" b="0" kern="1200" dirty="0">
                <a:solidFill>
                  <a:schemeClr val="tx1"/>
                </a:solidFill>
                <a:effectLst/>
                <a:latin typeface="+mn-lt"/>
                <a:ea typeface="+mn-ea"/>
                <a:cs typeface="+mn-cs"/>
              </a:rPr>
              <a:t>6. Les </a:t>
            </a:r>
            <a:r>
              <a:rPr lang="fr-FR" sz="1200" b="1" kern="1200" dirty="0">
                <a:solidFill>
                  <a:schemeClr val="tx1"/>
                </a:solidFill>
                <a:effectLst/>
                <a:latin typeface="+mn-lt"/>
                <a:ea typeface="+mn-ea"/>
                <a:cs typeface="+mn-cs"/>
              </a:rPr>
              <a:t>**</a:t>
            </a:r>
            <a:r>
              <a:rPr lang="fr-FR" sz="1200" b="1" kern="1200" dirty="0" err="1">
                <a:solidFill>
                  <a:schemeClr val="tx1"/>
                </a:solidFill>
                <a:effectLst/>
                <a:latin typeface="+mn-lt"/>
                <a:ea typeface="+mn-ea"/>
                <a:cs typeface="+mn-cs"/>
              </a:rPr>
              <a:t>affected</a:t>
            </a:r>
            <a:r>
              <a:rPr lang="fr-FR" sz="1200" b="1" kern="1200" dirty="0">
                <a:solidFill>
                  <a:schemeClr val="tx1"/>
                </a:solidFill>
                <a:effectLst/>
                <a:latin typeface="+mn-lt"/>
                <a:ea typeface="+mn-ea"/>
                <a:cs typeface="+mn-cs"/>
              </a:rPr>
              <a:t> </a:t>
            </a:r>
            <a:r>
              <a:rPr lang="fr-FR" sz="1200" b="1" kern="1200" dirty="0" err="1">
                <a:solidFill>
                  <a:schemeClr val="tx1"/>
                </a:solidFill>
                <a:effectLst/>
                <a:latin typeface="+mn-lt"/>
                <a:ea typeface="+mn-ea"/>
                <a:cs typeface="+mn-cs"/>
              </a:rPr>
              <a:t>commands</a:t>
            </a:r>
            <a:r>
              <a:rPr lang="fr-FR" sz="1200" b="1" kern="1200" dirty="0">
                <a:solidFill>
                  <a:schemeClr val="tx1"/>
                </a:solidFill>
                <a:effectLst/>
                <a:latin typeface="+mn-lt"/>
                <a:ea typeface="+mn-ea"/>
                <a:cs typeface="+mn-cs"/>
              </a:rPr>
              <a:t>**</a:t>
            </a:r>
            <a:r>
              <a:rPr lang="fr-FR" sz="1200" b="0" kern="1200" dirty="0">
                <a:solidFill>
                  <a:schemeClr val="tx1"/>
                </a:solidFill>
                <a:effectLst/>
                <a:latin typeface="+mn-lt"/>
                <a:ea typeface="+mn-ea"/>
                <a:cs typeface="+mn-cs"/>
              </a:rPr>
              <a:t> : optimisation du CI/CD avec 60 à 70% de gain</a:t>
            </a:r>
          </a:p>
          <a:p>
            <a:r>
              <a:rPr lang="fr-FR" sz="1200" b="0" kern="1200" dirty="0">
                <a:solidFill>
                  <a:schemeClr val="tx1"/>
                </a:solidFill>
                <a:effectLst/>
                <a:latin typeface="+mn-lt"/>
                <a:ea typeface="+mn-ea"/>
                <a:cs typeface="+mn-cs"/>
              </a:rPr>
              <a:t>7. </a:t>
            </a:r>
            <a:r>
              <a:rPr lang="fr-FR" sz="1200" b="1" kern="1200" dirty="0">
                <a:solidFill>
                  <a:schemeClr val="tx1"/>
                </a:solidFill>
                <a:effectLst/>
                <a:latin typeface="+mn-lt"/>
                <a:ea typeface="+mn-ea"/>
                <a:cs typeface="+mn-cs"/>
              </a:rPr>
              <a:t>**</a:t>
            </a:r>
            <a:r>
              <a:rPr lang="fr-FR" sz="1200" b="1" kern="1200" dirty="0" err="1">
                <a:solidFill>
                  <a:schemeClr val="tx1"/>
                </a:solidFill>
                <a:effectLst/>
                <a:latin typeface="+mn-lt"/>
                <a:ea typeface="+mn-ea"/>
                <a:cs typeface="+mn-cs"/>
              </a:rPr>
              <a:t>Nx</a:t>
            </a:r>
            <a:r>
              <a:rPr lang="fr-FR" sz="1200" b="1" kern="1200" dirty="0">
                <a:solidFill>
                  <a:schemeClr val="tx1"/>
                </a:solidFill>
                <a:effectLst/>
                <a:latin typeface="+mn-lt"/>
                <a:ea typeface="+mn-ea"/>
                <a:cs typeface="+mn-cs"/>
              </a:rPr>
              <a:t> Cloud**</a:t>
            </a:r>
            <a:r>
              <a:rPr lang="fr-FR" sz="1200" b="0" kern="1200" dirty="0">
                <a:solidFill>
                  <a:schemeClr val="tx1"/>
                </a:solidFill>
                <a:effectLst/>
                <a:latin typeface="+mn-lt"/>
                <a:ea typeface="+mn-ea"/>
                <a:cs typeface="+mn-cs"/>
              </a:rPr>
              <a:t> : le cache distribué et les </a:t>
            </a:r>
            <a:r>
              <a:rPr lang="fr-FR" sz="1200" b="0" kern="1200" dirty="0" err="1">
                <a:solidFill>
                  <a:schemeClr val="tx1"/>
                </a:solidFill>
                <a:effectLst/>
                <a:latin typeface="+mn-lt"/>
                <a:ea typeface="+mn-ea"/>
                <a:cs typeface="+mn-cs"/>
              </a:rPr>
              <a:t>analytics</a:t>
            </a: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8. Le </a:t>
            </a:r>
            <a:r>
              <a:rPr lang="fr-FR" sz="1200" b="1" kern="1200" dirty="0">
                <a:solidFill>
                  <a:schemeClr val="tx1"/>
                </a:solidFill>
                <a:effectLst/>
                <a:latin typeface="+mn-lt"/>
                <a:ea typeface="+mn-ea"/>
                <a:cs typeface="+mn-cs"/>
              </a:rPr>
              <a:t>**ROI**</a:t>
            </a:r>
            <a:r>
              <a:rPr lang="fr-FR" sz="1200" b="0" kern="1200" dirty="0">
                <a:solidFill>
                  <a:schemeClr val="tx1"/>
                </a:solidFill>
                <a:effectLst/>
                <a:latin typeface="+mn-lt"/>
                <a:ea typeface="+mn-ea"/>
                <a:cs typeface="+mn-cs"/>
              </a:rPr>
              <a:t> : 150 000€ d'économies par an pour une équipe de 10 développeurs</a:t>
            </a:r>
          </a:p>
          <a:p>
            <a:r>
              <a:rPr lang="fr-FR" sz="1200" b="0" kern="1200" dirty="0">
                <a:solidFill>
                  <a:schemeClr val="tx1"/>
                </a:solidFill>
                <a:effectLst/>
                <a:latin typeface="+mn-lt"/>
                <a:ea typeface="+mn-ea"/>
                <a:cs typeface="+mn-cs"/>
              </a:rPr>
              <a:t>9. La </a:t>
            </a:r>
            <a:r>
              <a:rPr lang="fr-FR" sz="1200" b="1" kern="1200" dirty="0">
                <a:solidFill>
                  <a:schemeClr val="tx1"/>
                </a:solidFill>
                <a:effectLst/>
                <a:latin typeface="+mn-lt"/>
                <a:ea typeface="+mn-ea"/>
                <a:cs typeface="+mn-cs"/>
              </a:rPr>
              <a:t>**conclusion**</a:t>
            </a:r>
            <a:r>
              <a:rPr lang="fr-FR" sz="1200" b="0" kern="1200" dirty="0">
                <a:solidFill>
                  <a:schemeClr val="tx1"/>
                </a:solidFill>
                <a:effectLst/>
                <a:latin typeface="+mn-lt"/>
                <a:ea typeface="+mn-ea"/>
                <a:cs typeface="+mn-cs"/>
              </a:rPr>
              <a:t> : récapitulatif et prochaines étapes</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**La deuxième partie**</a:t>
            </a:r>
            <a:r>
              <a:rPr lang="fr-FR" sz="1200" b="0" kern="1200" dirty="0">
                <a:solidFill>
                  <a:schemeClr val="tx1"/>
                </a:solidFill>
                <a:effectLst/>
                <a:latin typeface="+mn-lt"/>
                <a:ea typeface="+mn-ea"/>
                <a:cs typeface="+mn-cs"/>
              </a:rPr>
              <a:t> sera la démo live de 30 minutes avec 5 scénarios pratiques que vous verrez en direct.</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Vous êtes prêts ? C'est parti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kern="1200" dirty="0">
                <a:solidFill>
                  <a:schemeClr val="tx1"/>
                </a:solidFill>
                <a:effectLst/>
                <a:latin typeface="+mn-lt"/>
                <a:ea typeface="+mn-ea"/>
                <a:cs typeface="+mn-cs"/>
              </a:rPr>
              <a:t>**"Alors, qu'est-ce que </a:t>
            </a:r>
            <a:r>
              <a:rPr lang="fr-FR" sz="1200" b="1" kern="1200" dirty="0" err="1">
                <a:solidFill>
                  <a:schemeClr val="tx1"/>
                </a:solidFill>
                <a:effectLst/>
                <a:latin typeface="+mn-lt"/>
                <a:ea typeface="+mn-ea"/>
                <a:cs typeface="+mn-cs"/>
              </a:rPr>
              <a:t>Nx</a:t>
            </a:r>
            <a:r>
              <a:rPr lang="fr-FR" sz="1200" b="1" kern="1200" dirty="0">
                <a:solidFill>
                  <a:schemeClr val="tx1"/>
                </a:solidFill>
                <a:effectLst/>
                <a:latin typeface="+mn-lt"/>
                <a:ea typeface="+mn-ea"/>
                <a:cs typeface="+mn-cs"/>
              </a:rPr>
              <a:t> exactement ?**</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est un </a:t>
            </a:r>
            <a:r>
              <a:rPr lang="fr-FR" sz="1200" b="1" kern="1200" dirty="0">
                <a:solidFill>
                  <a:schemeClr val="tx1"/>
                </a:solidFill>
                <a:effectLst/>
                <a:latin typeface="+mn-lt"/>
                <a:ea typeface="+mn-ea"/>
                <a:cs typeface="+mn-cs"/>
              </a:rPr>
              <a:t>**</a:t>
            </a:r>
            <a:r>
              <a:rPr lang="fr-FR" sz="1200" b="1" kern="1200" dirty="0" err="1">
                <a:solidFill>
                  <a:schemeClr val="tx1"/>
                </a:solidFill>
                <a:effectLst/>
                <a:latin typeface="+mn-lt"/>
                <a:ea typeface="+mn-ea"/>
                <a:cs typeface="+mn-cs"/>
              </a:rPr>
              <a:t>framework</a:t>
            </a:r>
            <a:r>
              <a:rPr lang="fr-FR" sz="1200" b="1" kern="1200" dirty="0">
                <a:solidFill>
                  <a:schemeClr val="tx1"/>
                </a:solidFill>
                <a:effectLst/>
                <a:latin typeface="+mn-lt"/>
                <a:ea typeface="+mn-ea"/>
                <a:cs typeface="+mn-cs"/>
              </a:rPr>
              <a:t> de </a:t>
            </a:r>
            <a:r>
              <a:rPr lang="fr-FR" sz="1200" b="1" kern="1200" dirty="0" err="1">
                <a:solidFill>
                  <a:schemeClr val="tx1"/>
                </a:solidFill>
                <a:effectLst/>
                <a:latin typeface="+mn-lt"/>
                <a:ea typeface="+mn-ea"/>
                <a:cs typeface="+mn-cs"/>
              </a:rPr>
              <a:t>build</a:t>
            </a:r>
            <a:r>
              <a:rPr lang="fr-FR" sz="1200" b="1" kern="1200" dirty="0">
                <a:solidFill>
                  <a:schemeClr val="tx1"/>
                </a:solidFill>
                <a:effectLst/>
                <a:latin typeface="+mn-lt"/>
                <a:ea typeface="+mn-ea"/>
                <a:cs typeface="+mn-cs"/>
              </a:rPr>
              <a:t> intelligent**</a:t>
            </a:r>
            <a:r>
              <a:rPr lang="fr-FR" sz="1200" b="0" kern="1200" dirty="0">
                <a:solidFill>
                  <a:schemeClr val="tx1"/>
                </a:solidFill>
                <a:effectLst/>
                <a:latin typeface="+mn-lt"/>
                <a:ea typeface="+mn-ea"/>
                <a:cs typeface="+mn-cs"/>
              </a:rPr>
              <a:t> conçu spécifiquement pour les monorepos. Il a été créé par </a:t>
            </a:r>
            <a:r>
              <a:rPr lang="fr-FR" sz="1200" b="1" kern="1200" dirty="0">
                <a:solidFill>
                  <a:schemeClr val="tx1"/>
                </a:solidFill>
                <a:effectLst/>
                <a:latin typeface="+mn-lt"/>
                <a:ea typeface="+mn-ea"/>
                <a:cs typeface="+mn-cs"/>
              </a:rPr>
              <a:t>**</a:t>
            </a:r>
            <a:r>
              <a:rPr lang="fr-FR" sz="1200" b="1" kern="1200" dirty="0" err="1">
                <a:solidFill>
                  <a:schemeClr val="tx1"/>
                </a:solidFill>
                <a:effectLst/>
                <a:latin typeface="+mn-lt"/>
                <a:ea typeface="+mn-ea"/>
                <a:cs typeface="+mn-cs"/>
              </a:rPr>
              <a:t>Nrwl</a:t>
            </a:r>
            <a:r>
              <a:rPr lang="fr-FR" sz="1200" b="1" kern="1200" dirty="0">
                <a:solidFill>
                  <a:schemeClr val="tx1"/>
                </a:solidFill>
                <a:effectLst/>
                <a:latin typeface="+mn-lt"/>
                <a:ea typeface="+mn-ea"/>
                <a:cs typeface="+mn-cs"/>
              </a:rPr>
              <a:t>**</a:t>
            </a:r>
            <a:r>
              <a:rPr lang="fr-FR" sz="1200" b="0" kern="1200" dirty="0">
                <a:solidFill>
                  <a:schemeClr val="tx1"/>
                </a:solidFill>
                <a:effectLst/>
                <a:latin typeface="+mn-lt"/>
                <a:ea typeface="+mn-ea"/>
                <a:cs typeface="+mn-cs"/>
              </a:rPr>
              <a:t>, une équipe composée notamment d'anciens développeurs de l'équipe </a:t>
            </a:r>
            <a:r>
              <a:rPr lang="fr-FR" sz="1200" b="0" kern="1200" dirty="0" err="1">
                <a:solidFill>
                  <a:schemeClr val="tx1"/>
                </a:solidFill>
                <a:effectLst/>
                <a:latin typeface="+mn-lt"/>
                <a:ea typeface="+mn-ea"/>
                <a:cs typeface="+mn-cs"/>
              </a:rPr>
              <a:t>Angular</a:t>
            </a:r>
            <a:r>
              <a:rPr lang="fr-FR" sz="1200" b="0" kern="1200" dirty="0">
                <a:solidFill>
                  <a:schemeClr val="tx1"/>
                </a:solidFill>
                <a:effectLst/>
                <a:latin typeface="+mn-lt"/>
                <a:ea typeface="+mn-ea"/>
                <a:cs typeface="+mn-cs"/>
              </a:rPr>
              <a:t> chez Google. C'est un projet open-source très populaire avec plus de 23 000 étoiles sur GitHub, et il supporte tous les </a:t>
            </a:r>
            <a:r>
              <a:rPr lang="fr-FR" sz="1200" b="0" kern="1200" dirty="0" err="1">
                <a:solidFill>
                  <a:schemeClr val="tx1"/>
                </a:solidFill>
                <a:effectLst/>
                <a:latin typeface="+mn-lt"/>
                <a:ea typeface="+mn-ea"/>
                <a:cs typeface="+mn-cs"/>
              </a:rPr>
              <a:t>frameworks</a:t>
            </a:r>
            <a:r>
              <a:rPr lang="fr-FR" sz="1200" b="0" kern="1200" dirty="0">
                <a:solidFill>
                  <a:schemeClr val="tx1"/>
                </a:solidFill>
                <a:effectLst/>
                <a:latin typeface="+mn-lt"/>
                <a:ea typeface="+mn-ea"/>
                <a:cs typeface="+mn-cs"/>
              </a:rPr>
              <a:t> modernes : </a:t>
            </a:r>
            <a:r>
              <a:rPr lang="fr-FR" sz="1200" b="0" kern="1200" dirty="0" err="1">
                <a:solidFill>
                  <a:schemeClr val="tx1"/>
                </a:solidFill>
                <a:effectLst/>
                <a:latin typeface="+mn-lt"/>
                <a:ea typeface="+mn-ea"/>
                <a:cs typeface="+mn-cs"/>
              </a:rPr>
              <a:t>Angular</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React</a:t>
            </a:r>
            <a:r>
              <a:rPr lang="fr-FR" sz="1200" b="0" kern="1200" dirty="0">
                <a:solidFill>
                  <a:schemeClr val="tx1"/>
                </a:solidFill>
                <a:effectLst/>
                <a:latin typeface="+mn-lt"/>
                <a:ea typeface="+mn-ea"/>
                <a:cs typeface="+mn-cs"/>
              </a:rPr>
              <a:t>, Vue, </a:t>
            </a:r>
            <a:r>
              <a:rPr lang="fr-FR" sz="1200" b="0" kern="1200" dirty="0" err="1">
                <a:solidFill>
                  <a:schemeClr val="tx1"/>
                </a:solidFill>
                <a:effectLst/>
                <a:latin typeface="+mn-lt"/>
                <a:ea typeface="+mn-ea"/>
                <a:cs typeface="+mn-cs"/>
              </a:rPr>
              <a:t>Node.js</a:t>
            </a:r>
            <a:r>
              <a:rPr lang="fr-FR" sz="1200" b="0" kern="1200" dirty="0">
                <a:solidFill>
                  <a:schemeClr val="tx1"/>
                </a:solidFill>
                <a:effectLst/>
                <a:latin typeface="+mn-lt"/>
                <a:ea typeface="+mn-ea"/>
                <a:cs typeface="+mn-cs"/>
              </a:rPr>
              <a:t>, et bien d'autres.</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repose sur </a:t>
            </a:r>
            <a:r>
              <a:rPr lang="fr-FR" sz="1200" b="1" kern="1200" dirty="0">
                <a:solidFill>
                  <a:schemeClr val="tx1"/>
                </a:solidFill>
                <a:effectLst/>
                <a:latin typeface="+mn-lt"/>
                <a:ea typeface="+mn-ea"/>
                <a:cs typeface="+mn-cs"/>
              </a:rPr>
              <a:t>**3 piliers fondamentaux**</a:t>
            </a:r>
            <a:r>
              <a:rPr lang="fr-FR" sz="1200" b="0" kern="1200" dirty="0">
                <a:solidFill>
                  <a:schemeClr val="tx1"/>
                </a:solidFill>
                <a:effectLst/>
                <a:latin typeface="+mn-lt"/>
                <a:ea typeface="+mn-ea"/>
                <a:cs typeface="+mn-cs"/>
              </a:rPr>
              <a:t>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**Premier pilier : Le monorepo structuré**</a:t>
            </a:r>
            <a:r>
              <a:rPr lang="fr-FR" sz="1200" b="0" kern="1200" dirty="0">
                <a:solidFill>
                  <a:schemeClr val="tx1"/>
                </a:solidFill>
                <a:effectLst/>
                <a:latin typeface="+mn-lt"/>
                <a:ea typeface="+mn-ea"/>
                <a:cs typeface="+mn-cs"/>
              </a:rPr>
              <a:t>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organise votre code de manière claire avec une séparation entre les applications dans le dossier `apps/` et les librairies partagées dans le dossier `</a:t>
            </a:r>
            <a:r>
              <a:rPr lang="fr-FR" sz="1200" b="0" kern="1200" dirty="0" err="1">
                <a:solidFill>
                  <a:schemeClr val="tx1"/>
                </a:solidFill>
                <a:effectLst/>
                <a:latin typeface="+mn-lt"/>
                <a:ea typeface="+mn-ea"/>
                <a:cs typeface="+mn-cs"/>
              </a:rPr>
              <a:t>libs</a:t>
            </a:r>
            <a:r>
              <a:rPr lang="fr-FR" sz="1200" b="0" kern="1200" dirty="0">
                <a:solidFill>
                  <a:schemeClr val="tx1"/>
                </a:solidFill>
                <a:effectLst/>
                <a:latin typeface="+mn-lt"/>
                <a:ea typeface="+mn-ea"/>
                <a:cs typeface="+mn-cs"/>
              </a:rPr>
              <a:t>/`. Cette structure rend le partage de code entre projets extrêmement simple et naturel.</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**Deuxième pilier : Le cache intelligent**</a:t>
            </a:r>
            <a:r>
              <a:rPr lang="fr-FR" sz="1200" b="0" kern="1200" dirty="0">
                <a:solidFill>
                  <a:schemeClr val="tx1"/>
                </a:solidFill>
                <a:effectLst/>
                <a:latin typeface="+mn-lt"/>
                <a:ea typeface="+mn-ea"/>
                <a:cs typeface="+mn-cs"/>
              </a:rPr>
              <a:t>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C'est probablement la fonctionnalité la plus impressionnante.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peut rendre vos </a:t>
            </a:r>
            <a:r>
              <a:rPr lang="fr-FR" sz="1200" b="0" kern="1200" dirty="0" err="1">
                <a:solidFill>
                  <a:schemeClr val="tx1"/>
                </a:solidFill>
                <a:effectLst/>
                <a:latin typeface="+mn-lt"/>
                <a:ea typeface="+mn-ea"/>
                <a:cs typeface="+mn-cs"/>
              </a:rPr>
              <a:t>builds</a:t>
            </a:r>
            <a:r>
              <a:rPr lang="fr-FR" sz="1200" b="0" kern="1200" dirty="0">
                <a:solidFill>
                  <a:schemeClr val="tx1"/>
                </a:solidFill>
                <a:effectLst/>
                <a:latin typeface="+mn-lt"/>
                <a:ea typeface="+mn-ea"/>
                <a:cs typeface="+mn-cs"/>
              </a:rPr>
              <a:t> jusqu'à </a:t>
            </a:r>
            <a:r>
              <a:rPr lang="fr-FR" sz="1200" b="1" kern="1200" dirty="0">
                <a:solidFill>
                  <a:schemeClr val="tx1"/>
                </a:solidFill>
                <a:effectLst/>
                <a:latin typeface="+mn-lt"/>
                <a:ea typeface="+mn-ea"/>
                <a:cs typeface="+mn-cs"/>
              </a:rPr>
              <a:t>**300 fois plus rapides**</a:t>
            </a:r>
            <a:r>
              <a:rPr lang="fr-FR" sz="1200" b="0" kern="1200" dirty="0">
                <a:solidFill>
                  <a:schemeClr val="tx1"/>
                </a:solidFill>
                <a:effectLst/>
                <a:latin typeface="+mn-lt"/>
                <a:ea typeface="+mn-ea"/>
                <a:cs typeface="+mn-cs"/>
              </a:rPr>
              <a:t> grâce à son système de cache. Il existe deux niveaux : un cache local sur votre machine, et un cache distribué via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Cloud qui est partagé entre toute l'équipe et votre CI/CD.</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**Troisième pilier : Les </a:t>
            </a:r>
            <a:r>
              <a:rPr lang="fr-FR" sz="1200" b="1" kern="1200" dirty="0" err="1">
                <a:solidFill>
                  <a:schemeClr val="tx1"/>
                </a:solidFill>
                <a:effectLst/>
                <a:latin typeface="+mn-lt"/>
                <a:ea typeface="+mn-ea"/>
                <a:cs typeface="+mn-cs"/>
              </a:rPr>
              <a:t>affected</a:t>
            </a:r>
            <a:r>
              <a:rPr lang="fr-FR" sz="1200" b="1" kern="1200" dirty="0">
                <a:solidFill>
                  <a:schemeClr val="tx1"/>
                </a:solidFill>
                <a:effectLst/>
                <a:latin typeface="+mn-lt"/>
                <a:ea typeface="+mn-ea"/>
                <a:cs typeface="+mn-cs"/>
              </a:rPr>
              <a:t> </a:t>
            </a:r>
            <a:r>
              <a:rPr lang="fr-FR" sz="1200" b="1" kern="1200" dirty="0" err="1">
                <a:solidFill>
                  <a:schemeClr val="tx1"/>
                </a:solidFill>
                <a:effectLst/>
                <a:latin typeface="+mn-lt"/>
                <a:ea typeface="+mn-ea"/>
                <a:cs typeface="+mn-cs"/>
              </a:rPr>
              <a:t>commands</a:t>
            </a:r>
            <a:r>
              <a:rPr lang="fr-FR" sz="1200" b="1" kern="1200" dirty="0">
                <a:solidFill>
                  <a:schemeClr val="tx1"/>
                </a:solidFill>
                <a:effectLst/>
                <a:latin typeface="+mn-lt"/>
                <a:ea typeface="+mn-ea"/>
                <a:cs typeface="+mn-cs"/>
              </a:rPr>
              <a:t>**</a:t>
            </a:r>
            <a:r>
              <a:rPr lang="fr-FR" sz="1200" b="0" kern="1200" dirty="0">
                <a:solidFill>
                  <a:schemeClr val="tx1"/>
                </a:solidFill>
                <a:effectLst/>
                <a:latin typeface="+mn-lt"/>
                <a:ea typeface="+mn-ea"/>
                <a:cs typeface="+mn-cs"/>
              </a:rPr>
              <a:t>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analyse automatiquement votre code pour déterminer quels projets sont réellement affectés par vos changements. Résultat : vous ne </a:t>
            </a:r>
            <a:r>
              <a:rPr lang="fr-FR" sz="1200" b="0" kern="1200" dirty="0" err="1">
                <a:solidFill>
                  <a:schemeClr val="tx1"/>
                </a:solidFill>
                <a:effectLst/>
                <a:latin typeface="+mn-lt"/>
                <a:ea typeface="+mn-ea"/>
                <a:cs typeface="+mn-cs"/>
              </a:rPr>
              <a:t>buildez</a:t>
            </a:r>
            <a:r>
              <a:rPr lang="fr-FR" sz="1200" b="0" kern="1200" dirty="0">
                <a:solidFill>
                  <a:schemeClr val="tx1"/>
                </a:solidFill>
                <a:effectLst/>
                <a:latin typeface="+mn-lt"/>
                <a:ea typeface="+mn-ea"/>
                <a:cs typeface="+mn-cs"/>
              </a:rPr>
              <a:t> ou ne testez </a:t>
            </a:r>
            <a:r>
              <a:rPr lang="fr-FR" sz="1200" b="1" kern="1200" dirty="0">
                <a:solidFill>
                  <a:schemeClr val="tx1"/>
                </a:solidFill>
                <a:effectLst/>
                <a:latin typeface="+mn-lt"/>
                <a:ea typeface="+mn-ea"/>
                <a:cs typeface="+mn-cs"/>
              </a:rPr>
              <a:t>**que ce qui a changé**</a:t>
            </a:r>
            <a:r>
              <a:rPr lang="fr-FR" sz="1200" b="0" kern="1200" dirty="0">
                <a:solidFill>
                  <a:schemeClr val="tx1"/>
                </a:solidFill>
                <a:effectLst/>
                <a:latin typeface="+mn-lt"/>
                <a:ea typeface="+mn-ea"/>
                <a:cs typeface="+mn-cs"/>
              </a:rPr>
              <a:t>, ce qui représente une </a:t>
            </a:r>
            <a:r>
              <a:rPr lang="fr-FR" sz="1200" b="1" kern="1200" dirty="0">
                <a:solidFill>
                  <a:schemeClr val="tx1"/>
                </a:solidFill>
                <a:effectLst/>
                <a:latin typeface="+mn-lt"/>
                <a:ea typeface="+mn-ea"/>
                <a:cs typeface="+mn-cs"/>
              </a:rPr>
              <a:t>**réduction de 60 à 70% du temps CI/CD**</a:t>
            </a:r>
            <a:r>
              <a:rPr lang="fr-FR" sz="1200" b="0" kern="1200" dirty="0">
                <a:solidFill>
                  <a:schemeClr val="tx1"/>
                </a:solidFill>
                <a:effectLst/>
                <a:latin typeface="+mn-lt"/>
                <a:ea typeface="+mn-ea"/>
                <a:cs typeface="+mn-cs"/>
              </a:rPr>
              <a:t>.</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Ces trois piliers font de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un outil extrêmement puissant pour améliorer la productivité des équipes."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kern="1200" dirty="0">
                <a:solidFill>
                  <a:schemeClr val="tx1"/>
                </a:solidFill>
                <a:effectLst/>
                <a:latin typeface="+mn-lt"/>
                <a:ea typeface="+mn-ea"/>
                <a:cs typeface="+mn-cs"/>
              </a:rPr>
              <a:t>**"Voyons maintenant concrètement comment tout cela s'organise avec notre application </a:t>
            </a:r>
            <a:r>
              <a:rPr lang="fr-FR" sz="1200" b="1" kern="1200" dirty="0" err="1">
                <a:solidFill>
                  <a:schemeClr val="tx1"/>
                </a:solidFill>
                <a:effectLst/>
                <a:latin typeface="+mn-lt"/>
                <a:ea typeface="+mn-ea"/>
                <a:cs typeface="+mn-cs"/>
              </a:rPr>
              <a:t>TaskFlow</a:t>
            </a:r>
            <a:r>
              <a:rPr lang="fr-FR" sz="1200" b="1" kern="1200" dirty="0">
                <a:solidFill>
                  <a:schemeClr val="tx1"/>
                </a:solidFill>
                <a:effectLst/>
                <a:latin typeface="+mn-lt"/>
                <a:ea typeface="+mn-ea"/>
                <a:cs typeface="+mn-cs"/>
              </a:rPr>
              <a:t>.**</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Notre monorepo contient </a:t>
            </a:r>
            <a:r>
              <a:rPr lang="fr-FR" sz="1200" b="1" kern="1200" dirty="0">
                <a:solidFill>
                  <a:schemeClr val="tx1"/>
                </a:solidFill>
                <a:effectLst/>
                <a:latin typeface="+mn-lt"/>
                <a:ea typeface="+mn-ea"/>
                <a:cs typeface="+mn-cs"/>
              </a:rPr>
              <a:t>**4 applications**</a:t>
            </a:r>
            <a:r>
              <a:rPr lang="fr-FR" sz="1200" b="0" kern="1200" dirty="0">
                <a:solidFill>
                  <a:schemeClr val="tx1"/>
                </a:solidFill>
                <a:effectLst/>
                <a:latin typeface="+mn-lt"/>
                <a:ea typeface="+mn-ea"/>
                <a:cs typeface="+mn-cs"/>
              </a:rPr>
              <a:t> et </a:t>
            </a:r>
            <a:r>
              <a:rPr lang="fr-FR" sz="1200" b="1" kern="1200" dirty="0">
                <a:solidFill>
                  <a:schemeClr val="tx1"/>
                </a:solidFill>
                <a:effectLst/>
                <a:latin typeface="+mn-lt"/>
                <a:ea typeface="+mn-ea"/>
                <a:cs typeface="+mn-cs"/>
              </a:rPr>
              <a:t>**3 librairies partagées**</a:t>
            </a:r>
            <a:r>
              <a:rPr lang="fr-FR" sz="1200" b="0" kern="1200" dirty="0">
                <a:solidFill>
                  <a:schemeClr val="tx1"/>
                </a:solidFill>
                <a:effectLst/>
                <a:latin typeface="+mn-lt"/>
                <a:ea typeface="+mn-ea"/>
                <a:cs typeface="+mn-cs"/>
              </a:rPr>
              <a:t>.</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**Côté applications :**</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Dans le dossier `apps/`, nous avons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a:t>
            </a:r>
            <a:r>
              <a:rPr lang="fr-FR" sz="1200" b="1" kern="1200" dirty="0">
                <a:solidFill>
                  <a:schemeClr val="tx1"/>
                </a:solidFill>
                <a:effectLst/>
                <a:latin typeface="+mn-lt"/>
                <a:ea typeface="+mn-ea"/>
                <a:cs typeface="+mn-cs"/>
              </a:rPr>
              <a:t>**</a:t>
            </a:r>
            <a:r>
              <a:rPr lang="fr-FR" sz="1200" b="1" kern="1200" dirty="0" err="1">
                <a:solidFill>
                  <a:schemeClr val="tx1"/>
                </a:solidFill>
                <a:effectLst/>
                <a:latin typeface="+mn-lt"/>
                <a:ea typeface="+mn-ea"/>
                <a:cs typeface="+mn-cs"/>
              </a:rPr>
              <a:t>taskflow</a:t>
            </a:r>
            <a:r>
              <a:rPr lang="fr-FR" sz="1200" b="1" kern="1200" dirty="0">
                <a:solidFill>
                  <a:schemeClr val="tx1"/>
                </a:solidFill>
                <a:effectLst/>
                <a:latin typeface="+mn-lt"/>
                <a:ea typeface="+mn-ea"/>
                <a:cs typeface="+mn-cs"/>
              </a:rPr>
              <a:t>-frontend**</a:t>
            </a:r>
            <a:r>
              <a:rPr lang="fr-FR" sz="1200" b="0" kern="1200" dirty="0">
                <a:solidFill>
                  <a:schemeClr val="tx1"/>
                </a:solidFill>
                <a:effectLst/>
                <a:latin typeface="+mn-lt"/>
                <a:ea typeface="+mn-ea"/>
                <a:cs typeface="+mn-cs"/>
              </a:rPr>
              <a:t> - L'interface utilisateur développée en </a:t>
            </a:r>
            <a:r>
              <a:rPr lang="fr-FR" sz="1200" b="0" kern="1200" dirty="0" err="1">
                <a:solidFill>
                  <a:schemeClr val="tx1"/>
                </a:solidFill>
                <a:effectLst/>
                <a:latin typeface="+mn-lt"/>
                <a:ea typeface="+mn-ea"/>
                <a:cs typeface="+mn-cs"/>
              </a:rPr>
              <a:t>Angular</a:t>
            </a: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a:t>
            </a:r>
            <a:r>
              <a:rPr lang="fr-FR" sz="1200" b="1" kern="1200" dirty="0">
                <a:solidFill>
                  <a:schemeClr val="tx1"/>
                </a:solidFill>
                <a:effectLst/>
                <a:latin typeface="+mn-lt"/>
                <a:ea typeface="+mn-ea"/>
                <a:cs typeface="+mn-cs"/>
              </a:rPr>
              <a:t>**taskflow-frontend-e2e**</a:t>
            </a:r>
            <a:r>
              <a:rPr lang="fr-FR" sz="1200" b="0" kern="1200" dirty="0">
                <a:solidFill>
                  <a:schemeClr val="tx1"/>
                </a:solidFill>
                <a:effectLst/>
                <a:latin typeface="+mn-lt"/>
                <a:ea typeface="+mn-ea"/>
                <a:cs typeface="+mn-cs"/>
              </a:rPr>
              <a:t> - Les tests end-to-end avec </a:t>
            </a:r>
            <a:r>
              <a:rPr lang="fr-FR" sz="1200" b="0" kern="1200" dirty="0" err="1">
                <a:solidFill>
                  <a:schemeClr val="tx1"/>
                </a:solidFill>
                <a:effectLst/>
                <a:latin typeface="+mn-lt"/>
                <a:ea typeface="+mn-ea"/>
                <a:cs typeface="+mn-cs"/>
              </a:rPr>
              <a:t>Playwright</a:t>
            </a: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a:t>
            </a:r>
            <a:r>
              <a:rPr lang="fr-FR" sz="1200" b="1" kern="1200" dirty="0">
                <a:solidFill>
                  <a:schemeClr val="tx1"/>
                </a:solidFill>
                <a:effectLst/>
                <a:latin typeface="+mn-lt"/>
                <a:ea typeface="+mn-ea"/>
                <a:cs typeface="+mn-cs"/>
              </a:rPr>
              <a:t>**</a:t>
            </a:r>
            <a:r>
              <a:rPr lang="fr-FR" sz="1200" b="1" kern="1200" dirty="0" err="1">
                <a:solidFill>
                  <a:schemeClr val="tx1"/>
                </a:solidFill>
                <a:effectLst/>
                <a:latin typeface="+mn-lt"/>
                <a:ea typeface="+mn-ea"/>
                <a:cs typeface="+mn-cs"/>
              </a:rPr>
              <a:t>taskflow</a:t>
            </a:r>
            <a:r>
              <a:rPr lang="fr-FR" sz="1200" b="1" kern="1200" dirty="0">
                <a:solidFill>
                  <a:schemeClr val="tx1"/>
                </a:solidFill>
                <a:effectLst/>
                <a:latin typeface="+mn-lt"/>
                <a:ea typeface="+mn-ea"/>
                <a:cs typeface="+mn-cs"/>
              </a:rPr>
              <a:t>-api**</a:t>
            </a:r>
            <a:r>
              <a:rPr lang="fr-FR" sz="1200" b="0" kern="1200" dirty="0">
                <a:solidFill>
                  <a:schemeClr val="tx1"/>
                </a:solidFill>
                <a:effectLst/>
                <a:latin typeface="+mn-lt"/>
                <a:ea typeface="+mn-ea"/>
                <a:cs typeface="+mn-cs"/>
              </a:rPr>
              <a:t> - L'API REST en Express pour gérer les tâches</a:t>
            </a:r>
          </a:p>
          <a:p>
            <a:r>
              <a:rPr lang="fr-FR" sz="1200" b="0" kern="1200" dirty="0">
                <a:solidFill>
                  <a:schemeClr val="tx1"/>
                </a:solidFill>
                <a:effectLst/>
                <a:latin typeface="+mn-lt"/>
                <a:ea typeface="+mn-ea"/>
                <a:cs typeface="+mn-cs"/>
              </a:rPr>
              <a:t>- </a:t>
            </a:r>
            <a:r>
              <a:rPr lang="fr-FR" sz="1200" b="1" kern="1200" dirty="0">
                <a:solidFill>
                  <a:schemeClr val="tx1"/>
                </a:solidFill>
                <a:effectLst/>
                <a:latin typeface="+mn-lt"/>
                <a:ea typeface="+mn-ea"/>
                <a:cs typeface="+mn-cs"/>
              </a:rPr>
              <a:t>**taskflow-api-e2e**</a:t>
            </a:r>
            <a:r>
              <a:rPr lang="fr-FR" sz="1200" b="0" kern="1200" dirty="0">
                <a:solidFill>
                  <a:schemeClr val="tx1"/>
                </a:solidFill>
                <a:effectLst/>
                <a:latin typeface="+mn-lt"/>
                <a:ea typeface="+mn-ea"/>
                <a:cs typeface="+mn-cs"/>
              </a:rPr>
              <a:t> - Les tests API avec </a:t>
            </a:r>
            <a:r>
              <a:rPr lang="fr-FR" sz="1200" b="0" kern="1200" dirty="0" err="1">
                <a:solidFill>
                  <a:schemeClr val="tx1"/>
                </a:solidFill>
                <a:effectLst/>
                <a:latin typeface="+mn-lt"/>
                <a:ea typeface="+mn-ea"/>
                <a:cs typeface="+mn-cs"/>
              </a:rPr>
              <a:t>Jest</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**Côté librairies :**</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Dans le dossier `</a:t>
            </a:r>
            <a:r>
              <a:rPr lang="fr-FR" sz="1200" b="0" kern="1200" dirty="0" err="1">
                <a:solidFill>
                  <a:schemeClr val="tx1"/>
                </a:solidFill>
                <a:effectLst/>
                <a:latin typeface="+mn-lt"/>
                <a:ea typeface="+mn-ea"/>
                <a:cs typeface="+mn-cs"/>
              </a:rPr>
              <a:t>libs</a:t>
            </a:r>
            <a:r>
              <a:rPr lang="fr-FR" sz="1200" b="0" kern="1200" dirty="0">
                <a:solidFill>
                  <a:schemeClr val="tx1"/>
                </a:solidFill>
                <a:effectLst/>
                <a:latin typeface="+mn-lt"/>
                <a:ea typeface="+mn-ea"/>
                <a:cs typeface="+mn-cs"/>
              </a:rPr>
              <a:t>/`, c'est là que la magie du monorepo opère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a:t>
            </a:r>
            <a:r>
              <a:rPr lang="fr-FR" sz="1200" b="1" kern="1200" dirty="0">
                <a:solidFill>
                  <a:schemeClr val="tx1"/>
                </a:solidFill>
                <a:effectLst/>
                <a:latin typeface="+mn-lt"/>
                <a:ea typeface="+mn-ea"/>
                <a:cs typeface="+mn-cs"/>
              </a:rPr>
              <a:t>**data-</a:t>
            </a:r>
            <a:r>
              <a:rPr lang="fr-FR" sz="1200" b="1" kern="1200" dirty="0" err="1">
                <a:solidFill>
                  <a:schemeClr val="tx1"/>
                </a:solidFill>
                <a:effectLst/>
                <a:latin typeface="+mn-lt"/>
                <a:ea typeface="+mn-ea"/>
                <a:cs typeface="+mn-cs"/>
              </a:rPr>
              <a:t>models</a:t>
            </a:r>
            <a:r>
              <a:rPr lang="fr-FR" sz="1200" b="1" kern="1200" dirty="0">
                <a:solidFill>
                  <a:schemeClr val="tx1"/>
                </a:solidFill>
                <a:effectLst/>
                <a:latin typeface="+mn-lt"/>
                <a:ea typeface="+mn-ea"/>
                <a:cs typeface="+mn-cs"/>
              </a:rPr>
              <a:t>**</a:t>
            </a:r>
            <a:r>
              <a:rPr lang="fr-FR" sz="1200" b="0" kern="1200" dirty="0">
                <a:solidFill>
                  <a:schemeClr val="tx1"/>
                </a:solidFill>
                <a:effectLst/>
                <a:latin typeface="+mn-lt"/>
                <a:ea typeface="+mn-ea"/>
                <a:cs typeface="+mn-cs"/>
              </a:rPr>
              <a:t> - Tous nos types </a:t>
            </a:r>
            <a:r>
              <a:rPr lang="fr-FR" sz="1200" b="0" kern="1200" dirty="0" err="1">
                <a:solidFill>
                  <a:schemeClr val="tx1"/>
                </a:solidFill>
                <a:effectLst/>
                <a:latin typeface="+mn-lt"/>
                <a:ea typeface="+mn-ea"/>
                <a:cs typeface="+mn-cs"/>
              </a:rPr>
              <a:t>TypeScript</a:t>
            </a:r>
            <a:r>
              <a:rPr lang="fr-FR" sz="1200" b="0" kern="1200" dirty="0">
                <a:solidFill>
                  <a:schemeClr val="tx1"/>
                </a:solidFill>
                <a:effectLst/>
                <a:latin typeface="+mn-lt"/>
                <a:ea typeface="+mn-ea"/>
                <a:cs typeface="+mn-cs"/>
              </a:rPr>
              <a:t> communs</a:t>
            </a:r>
          </a:p>
          <a:p>
            <a:r>
              <a:rPr lang="fr-FR" sz="1200" b="0" kern="1200" dirty="0">
                <a:solidFill>
                  <a:schemeClr val="tx1"/>
                </a:solidFill>
                <a:effectLst/>
                <a:latin typeface="+mn-lt"/>
                <a:ea typeface="+mn-ea"/>
                <a:cs typeface="+mn-cs"/>
              </a:rPr>
              <a:t>- </a:t>
            </a:r>
            <a:r>
              <a:rPr lang="fr-FR" sz="1200" b="1" kern="1200" dirty="0">
                <a:solidFill>
                  <a:schemeClr val="tx1"/>
                </a:solidFill>
                <a:effectLst/>
                <a:latin typeface="+mn-lt"/>
                <a:ea typeface="+mn-ea"/>
                <a:cs typeface="+mn-cs"/>
              </a:rPr>
              <a:t>**</a:t>
            </a:r>
            <a:r>
              <a:rPr lang="fr-FR" sz="1200" b="1" kern="1200" dirty="0" err="1">
                <a:solidFill>
                  <a:schemeClr val="tx1"/>
                </a:solidFill>
                <a:effectLst/>
                <a:latin typeface="+mn-lt"/>
                <a:ea typeface="+mn-ea"/>
                <a:cs typeface="+mn-cs"/>
              </a:rPr>
              <a:t>ui</a:t>
            </a:r>
            <a:r>
              <a:rPr lang="fr-FR" sz="1200" b="1" kern="1200" dirty="0">
                <a:solidFill>
                  <a:schemeClr val="tx1"/>
                </a:solidFill>
                <a:effectLst/>
                <a:latin typeface="+mn-lt"/>
                <a:ea typeface="+mn-ea"/>
                <a:cs typeface="+mn-cs"/>
              </a:rPr>
              <a:t>-components**</a:t>
            </a:r>
            <a:r>
              <a:rPr lang="fr-FR" sz="1200" b="0" kern="1200" dirty="0">
                <a:solidFill>
                  <a:schemeClr val="tx1"/>
                </a:solidFill>
                <a:effectLst/>
                <a:latin typeface="+mn-lt"/>
                <a:ea typeface="+mn-ea"/>
                <a:cs typeface="+mn-cs"/>
              </a:rPr>
              <a:t> - Les composants </a:t>
            </a:r>
            <a:r>
              <a:rPr lang="fr-FR" sz="1200" b="0" kern="1200" dirty="0" err="1">
                <a:solidFill>
                  <a:schemeClr val="tx1"/>
                </a:solidFill>
                <a:effectLst/>
                <a:latin typeface="+mn-lt"/>
                <a:ea typeface="+mn-ea"/>
                <a:cs typeface="+mn-cs"/>
              </a:rPr>
              <a:t>Angular</a:t>
            </a:r>
            <a:r>
              <a:rPr lang="fr-FR" sz="1200" b="0" kern="1200" dirty="0">
                <a:solidFill>
                  <a:schemeClr val="tx1"/>
                </a:solidFill>
                <a:effectLst/>
                <a:latin typeface="+mn-lt"/>
                <a:ea typeface="+mn-ea"/>
                <a:cs typeface="+mn-cs"/>
              </a:rPr>
              <a:t> réutilisables</a:t>
            </a:r>
          </a:p>
          <a:p>
            <a:r>
              <a:rPr lang="fr-FR" sz="1200" b="0" kern="1200" dirty="0">
                <a:solidFill>
                  <a:schemeClr val="tx1"/>
                </a:solidFill>
                <a:effectLst/>
                <a:latin typeface="+mn-lt"/>
                <a:ea typeface="+mn-ea"/>
                <a:cs typeface="+mn-cs"/>
              </a:rPr>
              <a:t>- </a:t>
            </a:r>
            <a:r>
              <a:rPr lang="fr-FR" sz="1200" b="1" kern="1200" dirty="0">
                <a:solidFill>
                  <a:schemeClr val="tx1"/>
                </a:solidFill>
                <a:effectLst/>
                <a:latin typeface="+mn-lt"/>
                <a:ea typeface="+mn-ea"/>
                <a:cs typeface="+mn-cs"/>
              </a:rPr>
              <a:t>**</a:t>
            </a:r>
            <a:r>
              <a:rPr lang="fr-FR" sz="1200" b="1" kern="1200" dirty="0" err="1">
                <a:solidFill>
                  <a:schemeClr val="tx1"/>
                </a:solidFill>
                <a:effectLst/>
                <a:latin typeface="+mn-lt"/>
                <a:ea typeface="+mn-ea"/>
                <a:cs typeface="+mn-cs"/>
              </a:rPr>
              <a:t>utils</a:t>
            </a:r>
            <a:r>
              <a:rPr lang="fr-FR" sz="1200" b="1" kern="1200" dirty="0">
                <a:solidFill>
                  <a:schemeClr val="tx1"/>
                </a:solidFill>
                <a:effectLst/>
                <a:latin typeface="+mn-lt"/>
                <a:ea typeface="+mn-ea"/>
                <a:cs typeface="+mn-cs"/>
              </a:rPr>
              <a:t>**</a:t>
            </a:r>
            <a:r>
              <a:rPr lang="fr-FR" sz="1200" b="0" kern="1200" dirty="0">
                <a:solidFill>
                  <a:schemeClr val="tx1"/>
                </a:solidFill>
                <a:effectLst/>
                <a:latin typeface="+mn-lt"/>
                <a:ea typeface="+mn-ea"/>
                <a:cs typeface="+mn-cs"/>
              </a:rPr>
              <a:t> - Les fonctions utilitaires</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**Et voici le point crucial :**</a:t>
            </a:r>
            <a:r>
              <a:rPr lang="fr-FR" sz="1200" b="0" kern="1200" dirty="0">
                <a:solidFill>
                  <a:schemeClr val="tx1"/>
                </a:solidFill>
                <a:effectLst/>
                <a:latin typeface="+mn-lt"/>
                <a:ea typeface="+mn-ea"/>
                <a:cs typeface="+mn-cs"/>
              </a:rPr>
              <a:t> regardez le flux de dépendances.</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Le frontend utilise `data-</a:t>
            </a:r>
            <a:r>
              <a:rPr lang="fr-FR" sz="1200" b="0" kern="1200" dirty="0" err="1">
                <a:solidFill>
                  <a:schemeClr val="tx1"/>
                </a:solidFill>
                <a:effectLst/>
                <a:latin typeface="+mn-lt"/>
                <a:ea typeface="+mn-ea"/>
                <a:cs typeface="+mn-cs"/>
              </a:rPr>
              <a:t>models</a:t>
            </a:r>
            <a:r>
              <a:rPr lang="fr-FR" sz="1200" b="0" kern="1200" dirty="0">
                <a:solidFill>
                  <a:schemeClr val="tx1"/>
                </a:solidFill>
                <a:effectLst/>
                <a:latin typeface="+mn-lt"/>
                <a:ea typeface="+mn-ea"/>
                <a:cs typeface="+mn-cs"/>
              </a:rPr>
              <a:t>` pour les types, et le backend utilise </a:t>
            </a:r>
            <a:r>
              <a:rPr lang="fr-FR" sz="1200" b="1" kern="1200" dirty="0">
                <a:solidFill>
                  <a:schemeClr val="tx1"/>
                </a:solidFill>
                <a:effectLst/>
                <a:latin typeface="+mn-lt"/>
                <a:ea typeface="+mn-ea"/>
                <a:cs typeface="+mn-cs"/>
              </a:rPr>
              <a:t>**exactement les mêmes types**</a:t>
            </a:r>
            <a:r>
              <a:rPr lang="fr-FR" sz="1200" b="0" kern="1200" dirty="0">
                <a:solidFill>
                  <a:schemeClr val="tx1"/>
                </a:solidFill>
                <a:effectLst/>
                <a:latin typeface="+mn-lt"/>
                <a:ea typeface="+mn-ea"/>
                <a:cs typeface="+mn-cs"/>
              </a:rPr>
              <a:t> depuis la même librairie ! Plus besoin de dupliquer les interfaces `</a:t>
            </a:r>
            <a:r>
              <a:rPr lang="fr-FR" sz="1200" b="0" kern="1200" dirty="0" err="1">
                <a:solidFill>
                  <a:schemeClr val="tx1"/>
                </a:solidFill>
                <a:effectLst/>
                <a:latin typeface="+mn-lt"/>
                <a:ea typeface="+mn-ea"/>
                <a:cs typeface="+mn-cs"/>
              </a:rPr>
              <a:t>Task</a:t>
            </a:r>
            <a:r>
              <a:rPr lang="fr-FR" sz="1200" b="0" kern="1200" dirty="0">
                <a:solidFill>
                  <a:schemeClr val="tx1"/>
                </a:solidFill>
                <a:effectLst/>
                <a:latin typeface="+mn-lt"/>
                <a:ea typeface="+mn-ea"/>
                <a:cs typeface="+mn-cs"/>
              </a:rPr>
              <a:t>` ou `User` dans deux repositories différents. C'est une </a:t>
            </a:r>
            <a:r>
              <a:rPr lang="fr-FR" sz="1200" b="1" kern="1200" dirty="0">
                <a:solidFill>
                  <a:schemeClr val="tx1"/>
                </a:solidFill>
                <a:effectLst/>
                <a:latin typeface="+mn-lt"/>
                <a:ea typeface="+mn-ea"/>
                <a:cs typeface="+mn-cs"/>
              </a:rPr>
              <a:t>**single source of </a:t>
            </a:r>
            <a:r>
              <a:rPr lang="fr-FR" sz="1200" b="1" kern="1200" dirty="0" err="1">
                <a:solidFill>
                  <a:schemeClr val="tx1"/>
                </a:solidFill>
                <a:effectLst/>
                <a:latin typeface="+mn-lt"/>
                <a:ea typeface="+mn-ea"/>
                <a:cs typeface="+mn-cs"/>
              </a:rPr>
              <a:t>truth</a:t>
            </a:r>
            <a:r>
              <a:rPr lang="fr-FR" sz="1200" b="1" kern="1200" dirty="0">
                <a:solidFill>
                  <a:schemeClr val="tx1"/>
                </a:solidFill>
                <a:effectLst/>
                <a:latin typeface="+mn-lt"/>
                <a:ea typeface="+mn-ea"/>
                <a:cs typeface="+mn-cs"/>
              </a:rPr>
              <a:t>**</a:t>
            </a:r>
            <a:r>
              <a:rPr lang="fr-FR" sz="1200" b="0" kern="1200" dirty="0">
                <a:solidFill>
                  <a:schemeClr val="tx1"/>
                </a:solidFill>
                <a:effectLst/>
                <a:latin typeface="+mn-lt"/>
                <a:ea typeface="+mn-ea"/>
                <a:cs typeface="+mn-cs"/>
              </a:rPr>
              <a:t>.</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Par exemple, si je modifie l'interface `</a:t>
            </a:r>
            <a:r>
              <a:rPr lang="fr-FR" sz="1200" b="0" kern="1200" dirty="0" err="1">
                <a:solidFill>
                  <a:schemeClr val="tx1"/>
                </a:solidFill>
                <a:effectLst/>
                <a:latin typeface="+mn-lt"/>
                <a:ea typeface="+mn-ea"/>
                <a:cs typeface="+mn-cs"/>
              </a:rPr>
              <a:t>Task</a:t>
            </a:r>
            <a:r>
              <a:rPr lang="fr-FR" sz="1200" b="0" kern="1200" dirty="0">
                <a:solidFill>
                  <a:schemeClr val="tx1"/>
                </a:solidFill>
                <a:effectLst/>
                <a:latin typeface="+mn-lt"/>
                <a:ea typeface="+mn-ea"/>
                <a:cs typeface="+mn-cs"/>
              </a:rPr>
              <a:t>` dans data-</a:t>
            </a:r>
            <a:r>
              <a:rPr lang="fr-FR" sz="1200" b="0" kern="1200" dirty="0" err="1">
                <a:solidFill>
                  <a:schemeClr val="tx1"/>
                </a:solidFill>
                <a:effectLst/>
                <a:latin typeface="+mn-lt"/>
                <a:ea typeface="+mn-ea"/>
                <a:cs typeface="+mn-cs"/>
              </a:rPr>
              <a:t>models</a:t>
            </a:r>
            <a:r>
              <a:rPr lang="fr-FR" sz="1200" b="0" kern="1200" dirty="0">
                <a:solidFill>
                  <a:schemeClr val="tx1"/>
                </a:solidFill>
                <a:effectLst/>
                <a:latin typeface="+mn-lt"/>
                <a:ea typeface="+mn-ea"/>
                <a:cs typeface="+mn-cs"/>
              </a:rPr>
              <a:t> pour ajouter un nouveau champ, le frontend et le backend utilisent automatiquement cette nouvelle définition. Fini les problèmes de désynchronisation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C'est cette structure qui rend le développement tellement plus fluide et maintenable."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kern="1200" dirty="0">
                <a:solidFill>
                  <a:schemeClr val="tx1"/>
                </a:solidFill>
                <a:effectLst/>
                <a:latin typeface="+mn-lt"/>
                <a:ea typeface="+mn-ea"/>
                <a:cs typeface="+mn-cs"/>
              </a:rPr>
              <a:t>**"Prenons un moment pour comparer la situation avant et après </a:t>
            </a:r>
            <a:r>
              <a:rPr lang="fr-FR" sz="1200" b="1" kern="1200" dirty="0" err="1">
                <a:solidFill>
                  <a:schemeClr val="tx1"/>
                </a:solidFill>
                <a:effectLst/>
                <a:latin typeface="+mn-lt"/>
                <a:ea typeface="+mn-ea"/>
                <a:cs typeface="+mn-cs"/>
              </a:rPr>
              <a:t>Nx</a:t>
            </a:r>
            <a:r>
              <a:rPr lang="fr-FR" sz="1200" b="1" kern="1200" dirty="0">
                <a:solidFill>
                  <a:schemeClr val="tx1"/>
                </a:solidFill>
                <a:effectLst/>
                <a:latin typeface="+mn-lt"/>
                <a:ea typeface="+mn-ea"/>
                <a:cs typeface="+mn-cs"/>
              </a:rPr>
              <a:t>.**</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**Avant </a:t>
            </a:r>
            <a:r>
              <a:rPr lang="fr-FR" sz="1200" b="1" kern="1200" dirty="0" err="1">
                <a:solidFill>
                  <a:schemeClr val="tx1"/>
                </a:solidFill>
                <a:effectLst/>
                <a:latin typeface="+mn-lt"/>
                <a:ea typeface="+mn-ea"/>
                <a:cs typeface="+mn-cs"/>
              </a:rPr>
              <a:t>Nx</a:t>
            </a:r>
            <a:r>
              <a:rPr lang="fr-FR" sz="1200" b="1" kern="1200" dirty="0">
                <a:solidFill>
                  <a:schemeClr val="tx1"/>
                </a:solidFill>
                <a:effectLst/>
                <a:latin typeface="+mn-lt"/>
                <a:ea typeface="+mn-ea"/>
                <a:cs typeface="+mn-cs"/>
              </a:rPr>
              <a:t>**</a:t>
            </a:r>
            <a:r>
              <a:rPr lang="fr-FR" sz="1200" b="0" kern="1200" dirty="0">
                <a:solidFill>
                  <a:schemeClr val="tx1"/>
                </a:solidFill>
                <a:effectLst/>
                <a:latin typeface="+mn-lt"/>
                <a:ea typeface="+mn-ea"/>
                <a:cs typeface="+mn-cs"/>
              </a:rPr>
              <a:t>, avec des projets séparés dans différents repositories, vous rencontrez plusieurs problèmes classiques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a:t>
            </a:r>
            <a:r>
              <a:rPr lang="fr-FR" sz="1200" b="1" kern="1200" dirty="0">
                <a:solidFill>
                  <a:schemeClr val="tx1"/>
                </a:solidFill>
                <a:effectLst/>
                <a:latin typeface="+mn-lt"/>
                <a:ea typeface="+mn-ea"/>
                <a:cs typeface="+mn-cs"/>
              </a:rPr>
              <a:t>**Code dupliqué**</a:t>
            </a:r>
            <a:r>
              <a:rPr lang="fr-FR" sz="1200" b="0" kern="1200" dirty="0">
                <a:solidFill>
                  <a:schemeClr val="tx1"/>
                </a:solidFill>
                <a:effectLst/>
                <a:latin typeface="+mn-lt"/>
                <a:ea typeface="+mn-ea"/>
                <a:cs typeface="+mn-cs"/>
              </a:rPr>
              <a:t> - Vous définissez votre interface `</a:t>
            </a:r>
            <a:r>
              <a:rPr lang="fr-FR" sz="1200" b="0" kern="1200" dirty="0" err="1">
                <a:solidFill>
                  <a:schemeClr val="tx1"/>
                </a:solidFill>
                <a:effectLst/>
                <a:latin typeface="+mn-lt"/>
                <a:ea typeface="+mn-ea"/>
                <a:cs typeface="+mn-cs"/>
              </a:rPr>
              <a:t>Task</a:t>
            </a:r>
            <a:r>
              <a:rPr lang="fr-FR" sz="1200" b="0" kern="1200" dirty="0">
                <a:solidFill>
                  <a:schemeClr val="tx1"/>
                </a:solidFill>
                <a:effectLst/>
                <a:latin typeface="+mn-lt"/>
                <a:ea typeface="+mn-ea"/>
                <a:cs typeface="+mn-cs"/>
              </a:rPr>
              <a:t>` deux fois, une fois dans le frontend, une fois dans le backend. Quand vous la modifiez, vous devez penser à modifier les deux. Source d'erreurs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a:t>
            </a:r>
            <a:r>
              <a:rPr lang="fr-FR" sz="1200" b="1" kern="1200" dirty="0">
                <a:solidFill>
                  <a:schemeClr val="tx1"/>
                </a:solidFill>
                <a:effectLst/>
                <a:latin typeface="+mn-lt"/>
                <a:ea typeface="+mn-ea"/>
                <a:cs typeface="+mn-cs"/>
              </a:rPr>
              <a:t>**Impossible de partager du code facilement**</a:t>
            </a:r>
            <a:r>
              <a:rPr lang="fr-FR" sz="1200" b="0" kern="1200" dirty="0">
                <a:solidFill>
                  <a:schemeClr val="tx1"/>
                </a:solidFill>
                <a:effectLst/>
                <a:latin typeface="+mn-lt"/>
                <a:ea typeface="+mn-ea"/>
                <a:cs typeface="+mn-cs"/>
              </a:rPr>
              <a:t> - Vous devez créer des packages </a:t>
            </a:r>
            <a:r>
              <a:rPr lang="fr-FR" sz="1200" b="0" kern="1200" dirty="0" err="1">
                <a:solidFill>
                  <a:schemeClr val="tx1"/>
                </a:solidFill>
                <a:effectLst/>
                <a:latin typeface="+mn-lt"/>
                <a:ea typeface="+mn-ea"/>
                <a:cs typeface="+mn-cs"/>
              </a:rPr>
              <a:t>npm</a:t>
            </a:r>
            <a:r>
              <a:rPr lang="fr-FR" sz="1200" b="0" kern="1200" dirty="0">
                <a:solidFill>
                  <a:schemeClr val="tx1"/>
                </a:solidFill>
                <a:effectLst/>
                <a:latin typeface="+mn-lt"/>
                <a:ea typeface="+mn-ea"/>
                <a:cs typeface="+mn-cs"/>
              </a:rPr>
              <a:t>, les publier, les versionner... c'est lourd.</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a:t>
            </a:r>
            <a:r>
              <a:rPr lang="fr-FR" sz="1200" b="1" kern="1200" dirty="0">
                <a:solidFill>
                  <a:schemeClr val="tx1"/>
                </a:solidFill>
                <a:effectLst/>
                <a:latin typeface="+mn-lt"/>
                <a:ea typeface="+mn-ea"/>
                <a:cs typeface="+mn-cs"/>
              </a:rPr>
              <a:t>**Pas de visibilité sur les dépendances**</a:t>
            </a:r>
            <a:r>
              <a:rPr lang="fr-FR" sz="1200" b="0" kern="1200" dirty="0">
                <a:solidFill>
                  <a:schemeClr val="tx1"/>
                </a:solidFill>
                <a:effectLst/>
                <a:latin typeface="+mn-lt"/>
                <a:ea typeface="+mn-ea"/>
                <a:cs typeface="+mn-cs"/>
              </a:rPr>
              <a:t> - Vous ne savez pas vraiment quel impact aura votre modification.</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a:t>
            </a:r>
            <a:r>
              <a:rPr lang="fr-FR" sz="1200" b="1" kern="1200" dirty="0">
                <a:solidFill>
                  <a:schemeClr val="tx1"/>
                </a:solidFill>
                <a:effectLst/>
                <a:latin typeface="+mn-lt"/>
                <a:ea typeface="+mn-ea"/>
                <a:cs typeface="+mn-cs"/>
              </a:rPr>
              <a:t>**Tout </a:t>
            </a:r>
            <a:r>
              <a:rPr lang="fr-FR" sz="1200" b="1" kern="1200" dirty="0" err="1">
                <a:solidFill>
                  <a:schemeClr val="tx1"/>
                </a:solidFill>
                <a:effectLst/>
                <a:latin typeface="+mn-lt"/>
                <a:ea typeface="+mn-ea"/>
                <a:cs typeface="+mn-cs"/>
              </a:rPr>
              <a:t>rebuilder</a:t>
            </a:r>
            <a:r>
              <a:rPr lang="fr-FR" sz="1200" b="1" kern="1200" dirty="0">
                <a:solidFill>
                  <a:schemeClr val="tx1"/>
                </a:solidFill>
                <a:effectLst/>
                <a:latin typeface="+mn-lt"/>
                <a:ea typeface="+mn-ea"/>
                <a:cs typeface="+mn-cs"/>
              </a:rPr>
              <a:t> à chaque fois**</a:t>
            </a:r>
            <a:r>
              <a:rPr lang="fr-FR" sz="1200" b="0" kern="1200" dirty="0">
                <a:solidFill>
                  <a:schemeClr val="tx1"/>
                </a:solidFill>
                <a:effectLst/>
                <a:latin typeface="+mn-lt"/>
                <a:ea typeface="+mn-ea"/>
                <a:cs typeface="+mn-cs"/>
              </a:rPr>
              <a:t> - Même si vous n'avez modifié qu'un seul fichier.</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**Avec </a:t>
            </a:r>
            <a:r>
              <a:rPr lang="fr-FR" sz="1200" b="1" kern="1200" dirty="0" err="1">
                <a:solidFill>
                  <a:schemeClr val="tx1"/>
                </a:solidFill>
                <a:effectLst/>
                <a:latin typeface="+mn-lt"/>
                <a:ea typeface="+mn-ea"/>
                <a:cs typeface="+mn-cs"/>
              </a:rPr>
              <a:t>Nx</a:t>
            </a:r>
            <a:r>
              <a:rPr lang="fr-FR" sz="1200" b="1" kern="1200" dirty="0">
                <a:solidFill>
                  <a:schemeClr val="tx1"/>
                </a:solidFill>
                <a:effectLst/>
                <a:latin typeface="+mn-lt"/>
                <a:ea typeface="+mn-ea"/>
                <a:cs typeface="+mn-cs"/>
              </a:rPr>
              <a:t>**</a:t>
            </a:r>
            <a:r>
              <a:rPr lang="fr-FR" sz="1200" b="0" kern="1200" dirty="0">
                <a:solidFill>
                  <a:schemeClr val="tx1"/>
                </a:solidFill>
                <a:effectLst/>
                <a:latin typeface="+mn-lt"/>
                <a:ea typeface="+mn-ea"/>
                <a:cs typeface="+mn-cs"/>
              </a:rPr>
              <a:t>, tous ces problèmes disparaissent d'un coup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Tout le code est au même endroit dans un seul repository bien structuré</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Les librairies partagées rendent le partage de code trivial</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Le graphe de dépendances interactif vous donne une visibilité totale</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Grâce au cache, vos </a:t>
            </a:r>
            <a:r>
              <a:rPr lang="fr-FR" sz="1200" b="0" kern="1200" dirty="0" err="1">
                <a:solidFill>
                  <a:schemeClr val="tx1"/>
                </a:solidFill>
                <a:effectLst/>
                <a:latin typeface="+mn-lt"/>
                <a:ea typeface="+mn-ea"/>
                <a:cs typeface="+mn-cs"/>
              </a:rPr>
              <a:t>builds</a:t>
            </a:r>
            <a:r>
              <a:rPr lang="fr-FR" sz="1200" b="0" kern="1200" dirty="0">
                <a:solidFill>
                  <a:schemeClr val="tx1"/>
                </a:solidFill>
                <a:effectLst/>
                <a:latin typeface="+mn-lt"/>
                <a:ea typeface="+mn-ea"/>
                <a:cs typeface="+mn-cs"/>
              </a:rPr>
              <a:t> deviennent instantanés</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Les </a:t>
            </a:r>
            <a:r>
              <a:rPr lang="fr-FR" sz="1200" b="0" kern="1200" dirty="0" err="1">
                <a:solidFill>
                  <a:schemeClr val="tx1"/>
                </a:solidFill>
                <a:effectLst/>
                <a:latin typeface="+mn-lt"/>
                <a:ea typeface="+mn-ea"/>
                <a:cs typeface="+mn-cs"/>
              </a:rPr>
              <a:t>affected</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commands</a:t>
            </a:r>
            <a:r>
              <a:rPr lang="fr-FR" sz="1200" b="0" kern="1200" dirty="0">
                <a:solidFill>
                  <a:schemeClr val="tx1"/>
                </a:solidFill>
                <a:effectLst/>
                <a:latin typeface="+mn-lt"/>
                <a:ea typeface="+mn-ea"/>
                <a:cs typeface="+mn-cs"/>
              </a:rPr>
              <a:t> permettent de tester uniquement ce qui a changé</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Et vous avez une seule version de chaque dépendance pour tout le monorepo</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**Exemple concret :**</a:t>
            </a:r>
            <a:r>
              <a:rPr lang="fr-FR" sz="1200" b="0" kern="1200" dirty="0">
                <a:solidFill>
                  <a:schemeClr val="tx1"/>
                </a:solidFill>
                <a:effectLst/>
                <a:latin typeface="+mn-lt"/>
                <a:ea typeface="+mn-ea"/>
                <a:cs typeface="+mn-cs"/>
              </a:rPr>
              <a:t> Le type `</a:t>
            </a:r>
            <a:r>
              <a:rPr lang="fr-FR" sz="1200" b="0" kern="1200" dirty="0" err="1">
                <a:solidFill>
                  <a:schemeClr val="tx1"/>
                </a:solidFill>
                <a:effectLst/>
                <a:latin typeface="+mn-lt"/>
                <a:ea typeface="+mn-ea"/>
                <a:cs typeface="+mn-cs"/>
              </a:rPr>
              <a:t>Task</a:t>
            </a:r>
            <a:r>
              <a:rPr lang="fr-FR" sz="1200" b="0" kern="1200" dirty="0">
                <a:solidFill>
                  <a:schemeClr val="tx1"/>
                </a:solidFill>
                <a:effectLst/>
                <a:latin typeface="+mn-lt"/>
                <a:ea typeface="+mn-ea"/>
                <a:cs typeface="+mn-cs"/>
              </a:rPr>
              <a:t>` est défini 1 fois dans `data-</a:t>
            </a:r>
            <a:r>
              <a:rPr lang="fr-FR" sz="1200" b="0" kern="1200" dirty="0" err="1">
                <a:solidFill>
                  <a:schemeClr val="tx1"/>
                </a:solidFill>
                <a:effectLst/>
                <a:latin typeface="+mn-lt"/>
                <a:ea typeface="+mn-ea"/>
                <a:cs typeface="+mn-cs"/>
              </a:rPr>
              <a:t>models</a:t>
            </a:r>
            <a:r>
              <a:rPr lang="fr-FR" sz="1200" b="0" kern="1200" dirty="0">
                <a:solidFill>
                  <a:schemeClr val="tx1"/>
                </a:solidFill>
                <a:effectLst/>
                <a:latin typeface="+mn-lt"/>
                <a:ea typeface="+mn-ea"/>
                <a:cs typeface="+mn-cs"/>
              </a:rPr>
              <a:t>`, utilisé par le frontend ET le backend. Un changement se fait à un seul endroit et est propagé automatiquement partout. Simple, propre, efficace."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kern="1200" dirty="0">
                <a:solidFill>
                  <a:schemeClr val="tx1"/>
                </a:solidFill>
                <a:effectLst/>
                <a:latin typeface="+mn-lt"/>
                <a:ea typeface="+mn-ea"/>
                <a:cs typeface="+mn-cs"/>
              </a:rPr>
              <a:t>**"Le graphe de dépendances est un outil absolument fondamental de </a:t>
            </a:r>
            <a:r>
              <a:rPr lang="fr-FR" sz="1200" b="1" kern="1200" dirty="0" err="1">
                <a:solidFill>
                  <a:schemeClr val="tx1"/>
                </a:solidFill>
                <a:effectLst/>
                <a:latin typeface="+mn-lt"/>
                <a:ea typeface="+mn-ea"/>
                <a:cs typeface="+mn-cs"/>
              </a:rPr>
              <a:t>Nx</a:t>
            </a:r>
            <a:r>
              <a:rPr lang="fr-FR" sz="1200" b="1" kern="1200" dirty="0">
                <a:solidFill>
                  <a:schemeClr val="tx1"/>
                </a:solidFill>
                <a:effectLst/>
                <a:latin typeface="+mn-lt"/>
                <a:ea typeface="+mn-ea"/>
                <a:cs typeface="+mn-cs"/>
              </a:rPr>
              <a:t>.**</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Le graphe vous donne une </a:t>
            </a:r>
            <a:r>
              <a:rPr lang="fr-FR" sz="1200" b="1" kern="1200" dirty="0">
                <a:solidFill>
                  <a:schemeClr val="tx1"/>
                </a:solidFill>
                <a:effectLst/>
                <a:latin typeface="+mn-lt"/>
                <a:ea typeface="+mn-ea"/>
                <a:cs typeface="+mn-cs"/>
              </a:rPr>
              <a:t>**visualisation complète**</a:t>
            </a:r>
            <a:r>
              <a:rPr lang="fr-FR" sz="1200" b="0" kern="1200" dirty="0">
                <a:solidFill>
                  <a:schemeClr val="tx1"/>
                </a:solidFill>
                <a:effectLst/>
                <a:latin typeface="+mn-lt"/>
                <a:ea typeface="+mn-ea"/>
                <a:cs typeface="+mn-cs"/>
              </a:rPr>
              <a:t> de votre </a:t>
            </a:r>
            <a:r>
              <a:rPr lang="fr-FR" sz="1200" b="0" kern="1200" dirty="0" err="1">
                <a:solidFill>
                  <a:schemeClr val="tx1"/>
                </a:solidFill>
                <a:effectLst/>
                <a:latin typeface="+mn-lt"/>
                <a:ea typeface="+mn-ea"/>
                <a:cs typeface="+mn-cs"/>
              </a:rPr>
              <a:t>workspace</a:t>
            </a:r>
            <a:r>
              <a:rPr lang="fr-FR" sz="1200" b="0" kern="1200" dirty="0">
                <a:solidFill>
                  <a:schemeClr val="tx1"/>
                </a:solidFill>
                <a:effectLst/>
                <a:latin typeface="+mn-lt"/>
                <a:ea typeface="+mn-ea"/>
                <a:cs typeface="+mn-cs"/>
              </a:rPr>
              <a:t>. Vous voyez tous vos projets et toutes leurs relations en un coup d'œil.</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C'est particulièrement utile pour identifier les dépendances circulaires qui causent des problèmes, comprendre l'architecture de votre application, et surtout faire de l'analyse d'impact en temps réel.</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**Dans </a:t>
            </a:r>
            <a:r>
              <a:rPr lang="fr-FR" sz="1200" b="1" kern="1200" dirty="0" err="1">
                <a:solidFill>
                  <a:schemeClr val="tx1"/>
                </a:solidFill>
                <a:effectLst/>
                <a:latin typeface="+mn-lt"/>
                <a:ea typeface="+mn-ea"/>
                <a:cs typeface="+mn-cs"/>
              </a:rPr>
              <a:t>TaskFlow</a:t>
            </a:r>
            <a:r>
              <a:rPr lang="fr-FR" sz="1200" b="1" kern="1200" dirty="0">
                <a:solidFill>
                  <a:schemeClr val="tx1"/>
                </a:solidFill>
                <a:effectLst/>
                <a:latin typeface="+mn-lt"/>
                <a:ea typeface="+mn-ea"/>
                <a:cs typeface="+mn-cs"/>
              </a:rPr>
              <a:t>**</a:t>
            </a:r>
            <a:r>
              <a:rPr lang="fr-FR" sz="1200" b="0" kern="1200" dirty="0">
                <a:solidFill>
                  <a:schemeClr val="tx1"/>
                </a:solidFill>
                <a:effectLst/>
                <a:latin typeface="+mn-lt"/>
                <a:ea typeface="+mn-ea"/>
                <a:cs typeface="+mn-cs"/>
              </a:rPr>
              <a:t>, regardez comment ça s'organise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`data-</a:t>
            </a:r>
            <a:r>
              <a:rPr lang="fr-FR" sz="1200" b="0" kern="1200" dirty="0" err="1">
                <a:solidFill>
                  <a:schemeClr val="tx1"/>
                </a:solidFill>
                <a:effectLst/>
                <a:latin typeface="+mn-lt"/>
                <a:ea typeface="+mn-ea"/>
                <a:cs typeface="+mn-cs"/>
              </a:rPr>
              <a:t>models</a:t>
            </a:r>
            <a:r>
              <a:rPr lang="fr-FR" sz="1200" b="0" kern="1200" dirty="0">
                <a:solidFill>
                  <a:schemeClr val="tx1"/>
                </a:solidFill>
                <a:effectLst/>
                <a:latin typeface="+mn-lt"/>
                <a:ea typeface="+mn-ea"/>
                <a:cs typeface="+mn-cs"/>
              </a:rPr>
              <a:t>` est </a:t>
            </a:r>
            <a:r>
              <a:rPr lang="fr-FR" sz="1200" b="1" kern="1200" dirty="0">
                <a:solidFill>
                  <a:schemeClr val="tx1"/>
                </a:solidFill>
                <a:effectLst/>
                <a:latin typeface="+mn-lt"/>
                <a:ea typeface="+mn-ea"/>
                <a:cs typeface="+mn-cs"/>
              </a:rPr>
              <a:t>**au centre**</a:t>
            </a:r>
            <a:r>
              <a:rPr lang="fr-FR" sz="1200" b="0" kern="1200" dirty="0">
                <a:solidFill>
                  <a:schemeClr val="tx1"/>
                </a:solidFill>
                <a:effectLst/>
                <a:latin typeface="+mn-lt"/>
                <a:ea typeface="+mn-ea"/>
                <a:cs typeface="+mn-cs"/>
              </a:rPr>
              <a:t> de notre architecture. Pourquoi ? Parce que c'est la librairie partagée par tout le monde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Le frontend dépend de `data-</a:t>
            </a:r>
            <a:r>
              <a:rPr lang="fr-FR" sz="1200" b="0" kern="1200" dirty="0" err="1">
                <a:solidFill>
                  <a:schemeClr val="tx1"/>
                </a:solidFill>
                <a:effectLst/>
                <a:latin typeface="+mn-lt"/>
                <a:ea typeface="+mn-ea"/>
                <a:cs typeface="+mn-cs"/>
              </a:rPr>
              <a:t>models</a:t>
            </a:r>
            <a:r>
              <a:rPr lang="fr-FR" sz="1200" b="0" kern="1200" dirty="0">
                <a:solidFill>
                  <a:schemeClr val="tx1"/>
                </a:solidFill>
                <a:effectLst/>
                <a:latin typeface="+mn-lt"/>
                <a:ea typeface="+mn-ea"/>
                <a:cs typeface="+mn-cs"/>
              </a:rPr>
              <a:t>` et `</a:t>
            </a:r>
            <a:r>
              <a:rPr lang="fr-FR" sz="1200" b="0" kern="1200" dirty="0" err="1">
                <a:solidFill>
                  <a:schemeClr val="tx1"/>
                </a:solidFill>
                <a:effectLst/>
                <a:latin typeface="+mn-lt"/>
                <a:ea typeface="+mn-ea"/>
                <a:cs typeface="+mn-cs"/>
              </a:rPr>
              <a:t>ui</a:t>
            </a:r>
            <a:r>
              <a:rPr lang="fr-FR" sz="1200" b="0" kern="1200" dirty="0">
                <a:solidFill>
                  <a:schemeClr val="tx1"/>
                </a:solidFill>
                <a:effectLst/>
                <a:latin typeface="+mn-lt"/>
                <a:ea typeface="+mn-ea"/>
                <a:cs typeface="+mn-cs"/>
              </a:rPr>
              <a:t>-components`</a:t>
            </a:r>
          </a:p>
          <a:p>
            <a:r>
              <a:rPr lang="fr-FR" sz="1200" b="0" kern="1200" dirty="0">
                <a:solidFill>
                  <a:schemeClr val="tx1"/>
                </a:solidFill>
                <a:effectLst/>
                <a:latin typeface="+mn-lt"/>
                <a:ea typeface="+mn-ea"/>
                <a:cs typeface="+mn-cs"/>
              </a:rPr>
              <a:t>- L'API dépend de `data-</a:t>
            </a:r>
            <a:r>
              <a:rPr lang="fr-FR" sz="1200" b="0" kern="1200" dirty="0" err="1">
                <a:solidFill>
                  <a:schemeClr val="tx1"/>
                </a:solidFill>
                <a:effectLst/>
                <a:latin typeface="+mn-lt"/>
                <a:ea typeface="+mn-ea"/>
                <a:cs typeface="+mn-cs"/>
              </a:rPr>
              <a:t>models</a:t>
            </a:r>
            <a:r>
              <a:rPr lang="fr-FR" sz="1200" b="0" kern="1200" dirty="0">
                <a:solidFill>
                  <a:schemeClr val="tx1"/>
                </a:solidFill>
                <a:effectLst/>
                <a:latin typeface="+mn-lt"/>
                <a:ea typeface="+mn-ea"/>
                <a:cs typeface="+mn-cs"/>
              </a:rPr>
              <a:t>` et `</a:t>
            </a:r>
            <a:r>
              <a:rPr lang="fr-FR" sz="1200" b="0" kern="1200" dirty="0" err="1">
                <a:solidFill>
                  <a:schemeClr val="tx1"/>
                </a:solidFill>
                <a:effectLst/>
                <a:latin typeface="+mn-lt"/>
                <a:ea typeface="+mn-ea"/>
                <a:cs typeface="+mn-cs"/>
              </a:rPr>
              <a:t>utils</a:t>
            </a:r>
            <a:r>
              <a:rPr lang="fr-FR" sz="1200" b="0" kern="1200" dirty="0">
                <a:solidFill>
                  <a:schemeClr val="tx1"/>
                </a:solidFill>
                <a:effectLst/>
                <a:latin typeface="+mn-lt"/>
                <a:ea typeface="+mn-ea"/>
                <a:cs typeface="+mn-cs"/>
              </a:rPr>
              <a:t>`</a:t>
            </a:r>
          </a:p>
          <a:p>
            <a:r>
              <a:rPr lang="fr-FR" sz="1200" b="0" kern="1200" dirty="0">
                <a:solidFill>
                  <a:schemeClr val="tx1"/>
                </a:solidFill>
                <a:effectLst/>
                <a:latin typeface="+mn-lt"/>
                <a:ea typeface="+mn-ea"/>
                <a:cs typeface="+mn-cs"/>
              </a:rPr>
              <a:t>- Les composants UI dépendent aussi de `data-</a:t>
            </a:r>
            <a:r>
              <a:rPr lang="fr-FR" sz="1200" b="0" kern="1200" dirty="0" err="1">
                <a:solidFill>
                  <a:schemeClr val="tx1"/>
                </a:solidFill>
                <a:effectLst/>
                <a:latin typeface="+mn-lt"/>
                <a:ea typeface="+mn-ea"/>
                <a:cs typeface="+mn-cs"/>
              </a:rPr>
              <a:t>models</a:t>
            </a:r>
            <a:r>
              <a:rPr lang="fr-FR" sz="1200" b="0" kern="1200" dirty="0">
                <a:solidFill>
                  <a:schemeClr val="tx1"/>
                </a:solidFill>
                <a:effectLst/>
                <a:latin typeface="+mn-lt"/>
                <a:ea typeface="+mn-ea"/>
                <a:cs typeface="+mn-cs"/>
              </a:rPr>
              <a:t>` et `</a:t>
            </a:r>
            <a:r>
              <a:rPr lang="fr-FR" sz="1200" b="0" kern="1200" dirty="0" err="1">
                <a:solidFill>
                  <a:schemeClr val="tx1"/>
                </a:solidFill>
                <a:effectLst/>
                <a:latin typeface="+mn-lt"/>
                <a:ea typeface="+mn-ea"/>
                <a:cs typeface="+mn-cs"/>
              </a:rPr>
              <a:t>utils</a:t>
            </a:r>
            <a:r>
              <a:rPr lang="fr-FR" sz="1200" b="0" kern="1200" dirty="0">
                <a:solidFill>
                  <a:schemeClr val="tx1"/>
                </a:solidFill>
                <a:effectLst/>
                <a:latin typeface="+mn-lt"/>
                <a:ea typeface="+mn-ea"/>
                <a:cs typeface="+mn-cs"/>
              </a:rPr>
              <a:t>`</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**Maintenant, voyons deux scénarios concrets :**</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**Scénario 1 : Je modifie data-</a:t>
            </a:r>
            <a:r>
              <a:rPr lang="fr-FR" sz="1200" b="1" kern="1200" dirty="0" err="1">
                <a:solidFill>
                  <a:schemeClr val="tx1"/>
                </a:solidFill>
                <a:effectLst/>
                <a:latin typeface="+mn-lt"/>
                <a:ea typeface="+mn-ea"/>
                <a:cs typeface="+mn-cs"/>
              </a:rPr>
              <a:t>models</a:t>
            </a:r>
            <a:r>
              <a:rPr lang="fr-FR" sz="1200" b="1" kern="1200" dirty="0">
                <a:solidFill>
                  <a:schemeClr val="tx1"/>
                </a:solidFill>
                <a:effectLst/>
                <a:latin typeface="+mn-lt"/>
                <a:ea typeface="+mn-ea"/>
                <a:cs typeface="+mn-cs"/>
              </a:rPr>
              <a:t>**</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La question est : quels projets sont impactés ? Le graphe me montre immédiatement : le frontend, l'API, les </a:t>
            </a:r>
            <a:r>
              <a:rPr lang="fr-FR" sz="1200" b="0" kern="1200" dirty="0" err="1">
                <a:solidFill>
                  <a:schemeClr val="tx1"/>
                </a:solidFill>
                <a:effectLst/>
                <a:latin typeface="+mn-lt"/>
                <a:ea typeface="+mn-ea"/>
                <a:cs typeface="+mn-cs"/>
              </a:rPr>
              <a:t>ui</a:t>
            </a:r>
            <a:r>
              <a:rPr lang="fr-FR" sz="1200" b="0" kern="1200" dirty="0">
                <a:solidFill>
                  <a:schemeClr val="tx1"/>
                </a:solidFill>
                <a:effectLst/>
                <a:latin typeface="+mn-lt"/>
                <a:ea typeface="+mn-ea"/>
                <a:cs typeface="+mn-cs"/>
              </a:rPr>
              <a:t>-components, et data-</a:t>
            </a:r>
            <a:r>
              <a:rPr lang="fr-FR" sz="1200" b="0" kern="1200" dirty="0" err="1">
                <a:solidFill>
                  <a:schemeClr val="tx1"/>
                </a:solidFill>
                <a:effectLst/>
                <a:latin typeface="+mn-lt"/>
                <a:ea typeface="+mn-ea"/>
                <a:cs typeface="+mn-cs"/>
              </a:rPr>
              <a:t>models</a:t>
            </a:r>
            <a:r>
              <a:rPr lang="fr-FR" sz="1200" b="0" kern="1200" dirty="0">
                <a:solidFill>
                  <a:schemeClr val="tx1"/>
                </a:solidFill>
                <a:effectLst/>
                <a:latin typeface="+mn-lt"/>
                <a:ea typeface="+mn-ea"/>
                <a:cs typeface="+mn-cs"/>
              </a:rPr>
              <a:t> lui-même. Ça fait </a:t>
            </a:r>
            <a:r>
              <a:rPr lang="fr-FR" sz="1200" b="1" kern="1200" dirty="0">
                <a:solidFill>
                  <a:schemeClr val="tx1"/>
                </a:solidFill>
                <a:effectLst/>
                <a:latin typeface="+mn-lt"/>
                <a:ea typeface="+mn-ea"/>
                <a:cs typeface="+mn-cs"/>
              </a:rPr>
              <a:t>**4 projets**</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sait qu'il faudra </a:t>
            </a:r>
            <a:r>
              <a:rPr lang="fr-FR" sz="1200" b="0" kern="1200" dirty="0" err="1">
                <a:solidFill>
                  <a:schemeClr val="tx1"/>
                </a:solidFill>
                <a:effectLst/>
                <a:latin typeface="+mn-lt"/>
                <a:ea typeface="+mn-ea"/>
                <a:cs typeface="+mn-cs"/>
              </a:rPr>
              <a:t>rebuilder</a:t>
            </a:r>
            <a:r>
              <a:rPr lang="fr-FR" sz="1200" b="0" kern="1200" dirty="0">
                <a:solidFill>
                  <a:schemeClr val="tx1"/>
                </a:solidFill>
                <a:effectLst/>
                <a:latin typeface="+mn-lt"/>
                <a:ea typeface="+mn-ea"/>
                <a:cs typeface="+mn-cs"/>
              </a:rPr>
              <a:t> et tester ces 4 projets.</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**Scénario 2 : Je modifie uniquement </a:t>
            </a:r>
            <a:r>
              <a:rPr lang="fr-FR" sz="1200" b="1" kern="1200" dirty="0" err="1">
                <a:solidFill>
                  <a:schemeClr val="tx1"/>
                </a:solidFill>
                <a:effectLst/>
                <a:latin typeface="+mn-lt"/>
                <a:ea typeface="+mn-ea"/>
                <a:cs typeface="+mn-cs"/>
              </a:rPr>
              <a:t>taskflow</a:t>
            </a:r>
            <a:r>
              <a:rPr lang="fr-FR" sz="1200" b="1" kern="1200" dirty="0">
                <a:solidFill>
                  <a:schemeClr val="tx1"/>
                </a:solidFill>
                <a:effectLst/>
                <a:latin typeface="+mn-lt"/>
                <a:ea typeface="+mn-ea"/>
                <a:cs typeface="+mn-cs"/>
              </a:rPr>
              <a:t>-api**</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Dans ce cas, l'impact est limité au backend. Le graphe montre que seule l'API est affectée.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va </a:t>
            </a:r>
            <a:r>
              <a:rPr lang="fr-FR" sz="1200" b="1" kern="1200" dirty="0">
                <a:solidFill>
                  <a:schemeClr val="tx1"/>
                </a:solidFill>
                <a:effectLst/>
                <a:latin typeface="+mn-lt"/>
                <a:ea typeface="+mn-ea"/>
                <a:cs typeface="+mn-cs"/>
              </a:rPr>
              <a:t>**ignorer complètement le frontend**</a:t>
            </a:r>
            <a:r>
              <a:rPr lang="fr-FR" sz="1200" b="0" kern="1200" dirty="0">
                <a:solidFill>
                  <a:schemeClr val="tx1"/>
                </a:solidFill>
                <a:effectLst/>
                <a:latin typeface="+mn-lt"/>
                <a:ea typeface="+mn-ea"/>
                <a:cs typeface="+mn-cs"/>
              </a:rPr>
              <a:t> → gain de temps massif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Je peux visualiser tout ça en live avec `</a:t>
            </a:r>
            <a:r>
              <a:rPr lang="fr-FR" sz="1200" b="0" kern="1200" dirty="0" err="1">
                <a:solidFill>
                  <a:schemeClr val="tx1"/>
                </a:solidFill>
                <a:effectLst/>
                <a:latin typeface="+mn-lt"/>
                <a:ea typeface="+mn-ea"/>
                <a:cs typeface="+mn-cs"/>
              </a:rPr>
              <a:t>npx</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graph`, ou `</a:t>
            </a:r>
            <a:r>
              <a:rPr lang="fr-FR" sz="1200" b="0" kern="1200" dirty="0" err="1">
                <a:solidFill>
                  <a:schemeClr val="tx1"/>
                </a:solidFill>
                <a:effectLst/>
                <a:latin typeface="+mn-lt"/>
                <a:ea typeface="+mn-ea"/>
                <a:cs typeface="+mn-cs"/>
              </a:rPr>
              <a:t>npx</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affected:graph</a:t>
            </a:r>
            <a:r>
              <a:rPr lang="fr-FR" sz="1200" b="0" kern="1200" dirty="0">
                <a:solidFill>
                  <a:schemeClr val="tx1"/>
                </a:solidFill>
                <a:effectLst/>
                <a:latin typeface="+mn-lt"/>
                <a:ea typeface="+mn-ea"/>
                <a:cs typeface="+mn-cs"/>
              </a:rPr>
              <a:t>` après une modification pour voir précisément ce qui est impacté.</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C'est un outil de productivité incroyable au quotidien."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kern="1200" dirty="0">
                <a:solidFill>
                  <a:schemeClr val="tx1"/>
                </a:solidFill>
                <a:effectLst/>
                <a:latin typeface="+mn-lt"/>
                <a:ea typeface="+mn-ea"/>
                <a:cs typeface="+mn-cs"/>
              </a:rPr>
              <a:t>**"Parlons maintenant du cache intelligent, la killer </a:t>
            </a:r>
            <a:r>
              <a:rPr lang="fr-FR" sz="1200" b="1" kern="1200" dirty="0" err="1">
                <a:solidFill>
                  <a:schemeClr val="tx1"/>
                </a:solidFill>
                <a:effectLst/>
                <a:latin typeface="+mn-lt"/>
                <a:ea typeface="+mn-ea"/>
                <a:cs typeface="+mn-cs"/>
              </a:rPr>
              <a:t>feature</a:t>
            </a:r>
            <a:r>
              <a:rPr lang="fr-FR" sz="1200" b="1" kern="1200" dirty="0">
                <a:solidFill>
                  <a:schemeClr val="tx1"/>
                </a:solidFill>
                <a:effectLst/>
                <a:latin typeface="+mn-lt"/>
                <a:ea typeface="+mn-ea"/>
                <a:cs typeface="+mn-cs"/>
              </a:rPr>
              <a:t> de </a:t>
            </a:r>
            <a:r>
              <a:rPr lang="fr-FR" sz="1200" b="1" kern="1200" dirty="0" err="1">
                <a:solidFill>
                  <a:schemeClr val="tx1"/>
                </a:solidFill>
                <a:effectLst/>
                <a:latin typeface="+mn-lt"/>
                <a:ea typeface="+mn-ea"/>
                <a:cs typeface="+mn-cs"/>
              </a:rPr>
              <a:t>Nx</a:t>
            </a:r>
            <a:r>
              <a:rPr lang="fr-FR" sz="1200" b="1" kern="1200" dirty="0">
                <a:solidFill>
                  <a:schemeClr val="tx1"/>
                </a:solidFill>
                <a:effectLst/>
                <a:latin typeface="+mn-lt"/>
                <a:ea typeface="+mn-ea"/>
                <a:cs typeface="+mn-cs"/>
              </a:rPr>
              <a:t> en termes de performance.**</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**Comment ça fonctionne ?**</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calcule un </a:t>
            </a:r>
            <a:r>
              <a:rPr lang="fr-FR" sz="1200" b="1" kern="1200" dirty="0">
                <a:solidFill>
                  <a:schemeClr val="tx1"/>
                </a:solidFill>
                <a:effectLst/>
                <a:latin typeface="+mn-lt"/>
                <a:ea typeface="+mn-ea"/>
                <a:cs typeface="+mn-cs"/>
              </a:rPr>
              <a:t>**hash unique**</a:t>
            </a:r>
            <a:r>
              <a:rPr lang="fr-FR" sz="1200" b="0" kern="1200" dirty="0">
                <a:solidFill>
                  <a:schemeClr val="tx1"/>
                </a:solidFill>
                <a:effectLst/>
                <a:latin typeface="+mn-lt"/>
                <a:ea typeface="+mn-ea"/>
                <a:cs typeface="+mn-cs"/>
              </a:rPr>
              <a:t> basé sur le code source du projet, les dépendances, la configuration, et même les variables d'environnement.</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Ensuite, avant d'exécuter une tâche,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vérifie ce hash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Si le hash est identique à une exécution précédente,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récupère le résultat depuis le cache. Instantané !</a:t>
            </a:r>
          </a:p>
          <a:p>
            <a:r>
              <a:rPr lang="fr-FR" sz="1200" b="0" kern="1200" dirty="0">
                <a:solidFill>
                  <a:schemeClr val="tx1"/>
                </a:solidFill>
                <a:effectLst/>
                <a:latin typeface="+mn-lt"/>
                <a:ea typeface="+mn-ea"/>
                <a:cs typeface="+mn-cs"/>
              </a:rPr>
              <a:t>- Si le hash est différent, la tâche est exécutée normalement et le résultat est mis en cache.</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Il y a </a:t>
            </a:r>
            <a:r>
              <a:rPr lang="fr-FR" sz="1200" b="1" kern="1200" dirty="0">
                <a:solidFill>
                  <a:schemeClr val="tx1"/>
                </a:solidFill>
                <a:effectLst/>
                <a:latin typeface="+mn-lt"/>
                <a:ea typeface="+mn-ea"/>
                <a:cs typeface="+mn-cs"/>
              </a:rPr>
              <a:t>**deux niveaux de cache**</a:t>
            </a:r>
            <a:r>
              <a:rPr lang="fr-FR" sz="1200" b="0" kern="1200" dirty="0">
                <a:solidFill>
                  <a:schemeClr val="tx1"/>
                </a:solidFill>
                <a:effectLst/>
                <a:latin typeface="+mn-lt"/>
                <a:ea typeface="+mn-ea"/>
                <a:cs typeface="+mn-cs"/>
              </a:rPr>
              <a:t> : le cache local sur votre machine, et le cache distribué via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Cloud, partagé entre toute l'équipe et la CI/CD.</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**Les gains sont spectaculaires.**</a:t>
            </a:r>
            <a:r>
              <a:rPr lang="fr-FR" sz="1200" b="0" kern="1200" dirty="0">
                <a:solidFill>
                  <a:schemeClr val="tx1"/>
                </a:solidFill>
                <a:effectLst/>
                <a:latin typeface="+mn-lt"/>
                <a:ea typeface="+mn-ea"/>
                <a:cs typeface="+mn-cs"/>
              </a:rPr>
              <a:t> Regardez ce tableau.</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Sur </a:t>
            </a:r>
            <a:r>
              <a:rPr lang="fr-FR" sz="1200" b="0" kern="1200" dirty="0" err="1">
                <a:solidFill>
                  <a:schemeClr val="tx1"/>
                </a:solidFill>
                <a:effectLst/>
                <a:latin typeface="+mn-lt"/>
                <a:ea typeface="+mn-ea"/>
                <a:cs typeface="+mn-cs"/>
              </a:rPr>
              <a:t>TaskFlow</a:t>
            </a:r>
            <a:r>
              <a:rPr lang="fr-FR" sz="1200" b="0" kern="1200" dirty="0">
                <a:solidFill>
                  <a:schemeClr val="tx1"/>
                </a:solidFill>
                <a:effectLst/>
                <a:latin typeface="+mn-lt"/>
                <a:ea typeface="+mn-ea"/>
                <a:cs typeface="+mn-cs"/>
              </a:rPr>
              <a:t>, pour </a:t>
            </a:r>
            <a:r>
              <a:rPr lang="fr-FR" sz="1200" b="0" kern="1200" dirty="0" err="1">
                <a:solidFill>
                  <a:schemeClr val="tx1"/>
                </a:solidFill>
                <a:effectLst/>
                <a:latin typeface="+mn-lt"/>
                <a:ea typeface="+mn-ea"/>
                <a:cs typeface="+mn-cs"/>
              </a:rPr>
              <a:t>builder</a:t>
            </a:r>
            <a:r>
              <a:rPr lang="fr-FR" sz="1200" b="0" kern="1200" dirty="0">
                <a:solidFill>
                  <a:schemeClr val="tx1"/>
                </a:solidFill>
                <a:effectLst/>
                <a:latin typeface="+mn-lt"/>
                <a:ea typeface="+mn-ea"/>
                <a:cs typeface="+mn-cs"/>
              </a:rPr>
              <a:t> le frontend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Sans cache : </a:t>
            </a:r>
            <a:r>
              <a:rPr lang="fr-FR" sz="1200" b="1" kern="1200" dirty="0">
                <a:solidFill>
                  <a:schemeClr val="tx1"/>
                </a:solidFill>
                <a:effectLst/>
                <a:latin typeface="+mn-lt"/>
                <a:ea typeface="+mn-ea"/>
                <a:cs typeface="+mn-cs"/>
              </a:rPr>
              <a:t>**30 secondes**</a:t>
            </a: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Avec cache : </a:t>
            </a:r>
            <a:r>
              <a:rPr lang="fr-FR" sz="1200" b="1" kern="1200" dirty="0">
                <a:solidFill>
                  <a:schemeClr val="tx1"/>
                </a:solidFill>
                <a:effectLst/>
                <a:latin typeface="+mn-lt"/>
                <a:ea typeface="+mn-ea"/>
                <a:cs typeface="+mn-cs"/>
              </a:rPr>
              <a:t>**0,1 seconde**</a:t>
            </a: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C'est </a:t>
            </a:r>
            <a:r>
              <a:rPr lang="fr-FR" sz="1200" b="1" kern="1200" dirty="0">
                <a:solidFill>
                  <a:schemeClr val="tx1"/>
                </a:solidFill>
                <a:effectLst/>
                <a:latin typeface="+mn-lt"/>
                <a:ea typeface="+mn-ea"/>
                <a:cs typeface="+mn-cs"/>
              </a:rPr>
              <a:t>**300 fois plus rapide**</a:t>
            </a:r>
            <a:r>
              <a:rPr lang="fr-FR" sz="1200" b="0" kern="1200" dirty="0">
                <a:solidFill>
                  <a:schemeClr val="tx1"/>
                </a:solidFill>
                <a:effectLst/>
                <a:latin typeface="+mn-lt"/>
                <a:ea typeface="+mn-ea"/>
                <a:cs typeface="+mn-cs"/>
              </a:rPr>
              <a:t> !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Pour les tests unitaires : de 15 secondes à 0,1 seconde. </a:t>
            </a:r>
            <a:r>
              <a:rPr lang="fr-FR" sz="1200" b="1" kern="1200" dirty="0">
                <a:solidFill>
                  <a:schemeClr val="tx1"/>
                </a:solidFill>
                <a:effectLst/>
                <a:latin typeface="+mn-lt"/>
                <a:ea typeface="+mn-ea"/>
                <a:cs typeface="+mn-cs"/>
              </a:rPr>
              <a:t>**150 fois plus rapide**</a:t>
            </a:r>
            <a:r>
              <a:rPr lang="fr-FR" sz="1200" b="0" kern="1200" dirty="0">
                <a:solidFill>
                  <a:schemeClr val="tx1"/>
                </a:solidFill>
                <a:effectLst/>
                <a:latin typeface="+mn-lt"/>
                <a:ea typeface="+mn-ea"/>
                <a:cs typeface="+mn-cs"/>
              </a:rPr>
              <a:t>.</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Pour le </a:t>
            </a:r>
            <a:r>
              <a:rPr lang="fr-FR" sz="1200" b="0" kern="1200" dirty="0" err="1">
                <a:solidFill>
                  <a:schemeClr val="tx1"/>
                </a:solidFill>
                <a:effectLst/>
                <a:latin typeface="+mn-lt"/>
                <a:ea typeface="+mn-ea"/>
                <a:cs typeface="+mn-cs"/>
              </a:rPr>
              <a:t>linting</a:t>
            </a:r>
            <a:r>
              <a:rPr lang="fr-FR" sz="1200" b="0" kern="1200" dirty="0">
                <a:solidFill>
                  <a:schemeClr val="tx1"/>
                </a:solidFill>
                <a:effectLst/>
                <a:latin typeface="+mn-lt"/>
                <a:ea typeface="+mn-ea"/>
                <a:cs typeface="+mn-cs"/>
              </a:rPr>
              <a:t> : de 5 secondes à 0,05 seconde. </a:t>
            </a:r>
            <a:r>
              <a:rPr lang="fr-FR" sz="1200" b="1" kern="1200" dirty="0">
                <a:solidFill>
                  <a:schemeClr val="tx1"/>
                </a:solidFill>
                <a:effectLst/>
                <a:latin typeface="+mn-lt"/>
                <a:ea typeface="+mn-ea"/>
                <a:cs typeface="+mn-cs"/>
              </a:rPr>
              <a:t>**100 fois plus rapide**</a:t>
            </a:r>
            <a:r>
              <a:rPr lang="fr-FR" sz="1200" b="0" kern="1200" dirty="0">
                <a:solidFill>
                  <a:schemeClr val="tx1"/>
                </a:solidFill>
                <a:effectLst/>
                <a:latin typeface="+mn-lt"/>
                <a:ea typeface="+mn-ea"/>
                <a:cs typeface="+mn-cs"/>
              </a:rPr>
              <a:t>.</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**Exemple concret :**</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Imaginez que le premier développeur de l'équipe lance un </a:t>
            </a:r>
            <a:r>
              <a:rPr lang="fr-FR" sz="1200" b="0" kern="1200" dirty="0" err="1">
                <a:solidFill>
                  <a:schemeClr val="tx1"/>
                </a:solidFill>
                <a:effectLst/>
                <a:latin typeface="+mn-lt"/>
                <a:ea typeface="+mn-ea"/>
                <a:cs typeface="+mn-cs"/>
              </a:rPr>
              <a:t>build</a:t>
            </a:r>
            <a:r>
              <a:rPr lang="fr-FR" sz="1200" b="0" kern="1200" dirty="0">
                <a:solidFill>
                  <a:schemeClr val="tx1"/>
                </a:solidFill>
                <a:effectLst/>
                <a:latin typeface="+mn-lt"/>
                <a:ea typeface="+mn-ea"/>
                <a:cs typeface="+mn-cs"/>
              </a:rPr>
              <a:t>. Le résultat est stocké dans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Cloud.</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Le deuxième développeur, sur le même code, lance le même </a:t>
            </a:r>
            <a:r>
              <a:rPr lang="fr-FR" sz="1200" b="0" kern="1200" dirty="0" err="1">
                <a:solidFill>
                  <a:schemeClr val="tx1"/>
                </a:solidFill>
                <a:effectLst/>
                <a:latin typeface="+mn-lt"/>
                <a:ea typeface="+mn-ea"/>
                <a:cs typeface="+mn-cs"/>
              </a:rPr>
              <a:t>build</a:t>
            </a:r>
            <a:r>
              <a:rPr lang="fr-FR" sz="1200" b="0" kern="1200" dirty="0">
                <a:solidFill>
                  <a:schemeClr val="tx1"/>
                </a:solidFill>
                <a:effectLst/>
                <a:latin typeface="+mn-lt"/>
                <a:ea typeface="+mn-ea"/>
                <a:cs typeface="+mn-cs"/>
              </a:rPr>
              <a:t> : il récupère instantanément le résultat en 0,1 seconde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Et quand votre pipeline CI s'exécute, si quelqu'un a déjà fait ce </a:t>
            </a:r>
            <a:r>
              <a:rPr lang="fr-FR" sz="1200" b="0" kern="1200" dirty="0" err="1">
                <a:solidFill>
                  <a:schemeClr val="tx1"/>
                </a:solidFill>
                <a:effectLst/>
                <a:latin typeface="+mn-lt"/>
                <a:ea typeface="+mn-ea"/>
                <a:cs typeface="+mn-cs"/>
              </a:rPr>
              <a:t>build</a:t>
            </a:r>
            <a:r>
              <a:rPr lang="fr-FR" sz="1200" b="0" kern="1200" dirty="0">
                <a:solidFill>
                  <a:schemeClr val="tx1"/>
                </a:solidFill>
                <a:effectLst/>
                <a:latin typeface="+mn-lt"/>
                <a:ea typeface="+mn-ea"/>
                <a:cs typeface="+mn-cs"/>
              </a:rPr>
              <a:t>, la CI récupère aussi le résultat en 0,1 seconde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C'est du temps gagné à chaque commit, à chaque pull </a:t>
            </a:r>
            <a:r>
              <a:rPr lang="fr-FR" sz="1200" b="0" kern="1200" dirty="0" err="1">
                <a:solidFill>
                  <a:schemeClr val="tx1"/>
                </a:solidFill>
                <a:effectLst/>
                <a:latin typeface="+mn-lt"/>
                <a:ea typeface="+mn-ea"/>
                <a:cs typeface="+mn-cs"/>
              </a:rPr>
              <a:t>request</a:t>
            </a:r>
            <a:r>
              <a:rPr lang="fr-FR" sz="1200" b="0" kern="1200" dirty="0">
                <a:solidFill>
                  <a:schemeClr val="tx1"/>
                </a:solidFill>
                <a:effectLst/>
                <a:latin typeface="+mn-lt"/>
                <a:ea typeface="+mn-ea"/>
                <a:cs typeface="+mn-cs"/>
              </a:rPr>
              <a:t>, à chaque jour. Multipliez ça par votre nombre de développeurs et vous comprendrez l'impact énorme sur la productivité."</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kern="1200" dirty="0">
                <a:solidFill>
                  <a:schemeClr val="tx1"/>
                </a:solidFill>
                <a:effectLst/>
                <a:latin typeface="+mn-lt"/>
                <a:ea typeface="+mn-ea"/>
                <a:cs typeface="+mn-cs"/>
              </a:rPr>
              <a:t>**"Les </a:t>
            </a:r>
            <a:r>
              <a:rPr lang="fr-FR" sz="1200" b="1" kern="1200" dirty="0" err="1">
                <a:solidFill>
                  <a:schemeClr val="tx1"/>
                </a:solidFill>
                <a:effectLst/>
                <a:latin typeface="+mn-lt"/>
                <a:ea typeface="+mn-ea"/>
                <a:cs typeface="+mn-cs"/>
              </a:rPr>
              <a:t>affected</a:t>
            </a:r>
            <a:r>
              <a:rPr lang="fr-FR" sz="1200" b="1" kern="1200" dirty="0">
                <a:solidFill>
                  <a:schemeClr val="tx1"/>
                </a:solidFill>
                <a:effectLst/>
                <a:latin typeface="+mn-lt"/>
                <a:ea typeface="+mn-ea"/>
                <a:cs typeface="+mn-cs"/>
              </a:rPr>
              <a:t> </a:t>
            </a:r>
            <a:r>
              <a:rPr lang="fr-FR" sz="1200" b="1" kern="1200" dirty="0" err="1">
                <a:solidFill>
                  <a:schemeClr val="tx1"/>
                </a:solidFill>
                <a:effectLst/>
                <a:latin typeface="+mn-lt"/>
                <a:ea typeface="+mn-ea"/>
                <a:cs typeface="+mn-cs"/>
              </a:rPr>
              <a:t>commands</a:t>
            </a:r>
            <a:r>
              <a:rPr lang="fr-FR" sz="1200" b="1" kern="1200" dirty="0">
                <a:solidFill>
                  <a:schemeClr val="tx1"/>
                </a:solidFill>
                <a:effectLst/>
                <a:latin typeface="+mn-lt"/>
                <a:ea typeface="+mn-ea"/>
                <a:cs typeface="+mn-cs"/>
              </a:rPr>
              <a:t>, c'est vraiment ce qui change la donne pour le CI/CD.**</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**Le problème classique des monorepos :**</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Sur un CI/CD classique avec un monorepo, vous devez tout </a:t>
            </a:r>
            <a:r>
              <a:rPr lang="fr-FR" sz="1200" b="0" kern="1200" dirty="0" err="1">
                <a:solidFill>
                  <a:schemeClr val="tx1"/>
                </a:solidFill>
                <a:effectLst/>
                <a:latin typeface="+mn-lt"/>
                <a:ea typeface="+mn-ea"/>
                <a:cs typeface="+mn-cs"/>
              </a:rPr>
              <a:t>rebuilder</a:t>
            </a:r>
            <a:r>
              <a:rPr lang="fr-FR" sz="1200" b="0" kern="1200" dirty="0">
                <a:solidFill>
                  <a:schemeClr val="tx1"/>
                </a:solidFill>
                <a:effectLst/>
                <a:latin typeface="+mn-lt"/>
                <a:ea typeface="+mn-ea"/>
                <a:cs typeface="+mn-cs"/>
              </a:rPr>
              <a:t> et tout tester à chaque commit. Pourquoi ? Parce que vous n'avez aucun moyen de savoir précisément ce qui est affecté.</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Résultat : votre pipeline CI prend 15 à 30 minutes, même si vous n'avez modifié qu'un seul fichier CSS. C'est un gaspillage de ressources et un feedback lent pour les développeurs.</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**La solution </a:t>
            </a:r>
            <a:r>
              <a:rPr lang="fr-FR" sz="1200" b="1" kern="1200" dirty="0" err="1">
                <a:solidFill>
                  <a:schemeClr val="tx1"/>
                </a:solidFill>
                <a:effectLst/>
                <a:latin typeface="+mn-lt"/>
                <a:ea typeface="+mn-ea"/>
                <a:cs typeface="+mn-cs"/>
              </a:rPr>
              <a:t>Nx</a:t>
            </a:r>
            <a:r>
              <a:rPr lang="fr-FR" sz="1200" b="1" kern="1200" dirty="0">
                <a:solidFill>
                  <a:schemeClr val="tx1"/>
                </a:solidFill>
                <a:effectLst/>
                <a:latin typeface="+mn-lt"/>
                <a:ea typeface="+mn-ea"/>
                <a:cs typeface="+mn-cs"/>
              </a:rPr>
              <a:t> :**</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analyse votre commit, compare avec votre branche principale, et en utilisant le graphe de dépendances, détermine </a:t>
            </a:r>
            <a:r>
              <a:rPr lang="fr-FR" sz="1200" b="1" kern="1200" dirty="0">
                <a:solidFill>
                  <a:schemeClr val="tx1"/>
                </a:solidFill>
                <a:effectLst/>
                <a:latin typeface="+mn-lt"/>
                <a:ea typeface="+mn-ea"/>
                <a:cs typeface="+mn-cs"/>
              </a:rPr>
              <a:t>**automatiquement**</a:t>
            </a:r>
            <a:r>
              <a:rPr lang="fr-FR" sz="1200" b="0" kern="1200" dirty="0">
                <a:solidFill>
                  <a:schemeClr val="tx1"/>
                </a:solidFill>
                <a:effectLst/>
                <a:latin typeface="+mn-lt"/>
                <a:ea typeface="+mn-ea"/>
                <a:cs typeface="+mn-cs"/>
              </a:rPr>
              <a:t> quels projets sont affectés. Ensuite, il exécute uniquement les tâches nécessaires sur ces projets.</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**Regardons des scénarios réels avec </a:t>
            </a:r>
            <a:r>
              <a:rPr lang="fr-FR" sz="1200" b="1" kern="1200" dirty="0" err="1">
                <a:solidFill>
                  <a:schemeClr val="tx1"/>
                </a:solidFill>
                <a:effectLst/>
                <a:latin typeface="+mn-lt"/>
                <a:ea typeface="+mn-ea"/>
                <a:cs typeface="+mn-cs"/>
              </a:rPr>
              <a:t>TaskFlow</a:t>
            </a:r>
            <a:r>
              <a:rPr lang="fr-FR" sz="1200" b="1" kern="1200" dirty="0">
                <a:solidFill>
                  <a:schemeClr val="tx1"/>
                </a:solidFill>
                <a:effectLst/>
                <a:latin typeface="+mn-lt"/>
                <a:ea typeface="+mn-ea"/>
                <a:cs typeface="+mn-cs"/>
              </a:rPr>
              <a:t> :**</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Si vous modifiez `data-</a:t>
            </a:r>
            <a:r>
              <a:rPr lang="fr-FR" sz="1200" b="0" kern="1200" dirty="0" err="1">
                <a:solidFill>
                  <a:schemeClr val="tx1"/>
                </a:solidFill>
                <a:effectLst/>
                <a:latin typeface="+mn-lt"/>
                <a:ea typeface="+mn-ea"/>
                <a:cs typeface="+mn-cs"/>
              </a:rPr>
              <a:t>models</a:t>
            </a:r>
            <a:r>
              <a:rPr lang="fr-FR" sz="1200" b="0" kern="1200" dirty="0">
                <a:solidFill>
                  <a:schemeClr val="tx1"/>
                </a:solidFill>
                <a:effectLst/>
                <a:latin typeface="+mn-lt"/>
                <a:ea typeface="+mn-ea"/>
                <a:cs typeface="+mn-cs"/>
              </a:rPr>
              <a:t>` : 4 projets sont affectés →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build</a:t>
            </a:r>
            <a:r>
              <a:rPr lang="fr-FR" sz="1200" b="0" kern="1200" dirty="0">
                <a:solidFill>
                  <a:schemeClr val="tx1"/>
                </a:solidFill>
                <a:effectLst/>
                <a:latin typeface="+mn-lt"/>
                <a:ea typeface="+mn-ea"/>
                <a:cs typeface="+mn-cs"/>
              </a:rPr>
              <a:t>/test ces 4 projets uniquement</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Si vous modifiez `</a:t>
            </a:r>
            <a:r>
              <a:rPr lang="fr-FR" sz="1200" b="0" kern="1200" dirty="0" err="1">
                <a:solidFill>
                  <a:schemeClr val="tx1"/>
                </a:solidFill>
                <a:effectLst/>
                <a:latin typeface="+mn-lt"/>
                <a:ea typeface="+mn-ea"/>
                <a:cs typeface="+mn-cs"/>
              </a:rPr>
              <a:t>taskflow</a:t>
            </a:r>
            <a:r>
              <a:rPr lang="fr-FR" sz="1200" b="0" kern="1200" dirty="0">
                <a:solidFill>
                  <a:schemeClr val="tx1"/>
                </a:solidFill>
                <a:effectLst/>
                <a:latin typeface="+mn-lt"/>
                <a:ea typeface="+mn-ea"/>
                <a:cs typeface="+mn-cs"/>
              </a:rPr>
              <a:t>-api` : 2 projets sont affectés →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build</a:t>
            </a:r>
            <a:r>
              <a:rPr lang="fr-FR" sz="1200" b="0" kern="1200" dirty="0">
                <a:solidFill>
                  <a:schemeClr val="tx1"/>
                </a:solidFill>
                <a:effectLst/>
                <a:latin typeface="+mn-lt"/>
                <a:ea typeface="+mn-ea"/>
                <a:cs typeface="+mn-cs"/>
              </a:rPr>
              <a:t>/test ces 2 projets uniquement</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Si vous modifiez un fichier CSS du frontend : 1 projet affecté →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build</a:t>
            </a:r>
            <a:r>
              <a:rPr lang="fr-FR" sz="1200" b="0" kern="1200" dirty="0">
                <a:solidFill>
                  <a:schemeClr val="tx1"/>
                </a:solidFill>
                <a:effectLst/>
                <a:latin typeface="+mn-lt"/>
                <a:ea typeface="+mn-ea"/>
                <a:cs typeface="+mn-cs"/>
              </a:rPr>
              <a:t> ce projet uniquement</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Vous voyez la différence ? Au lieu de tout tester,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est </a:t>
            </a:r>
            <a:r>
              <a:rPr lang="fr-FR" sz="1200" b="1" kern="1200" dirty="0">
                <a:solidFill>
                  <a:schemeClr val="tx1"/>
                </a:solidFill>
                <a:effectLst/>
                <a:latin typeface="+mn-lt"/>
                <a:ea typeface="+mn-ea"/>
                <a:cs typeface="+mn-cs"/>
              </a:rPr>
              <a:t>**chirurgical**</a:t>
            </a:r>
            <a:r>
              <a:rPr lang="fr-FR" sz="1200" b="0" kern="1200" dirty="0">
                <a:solidFill>
                  <a:schemeClr val="tx1"/>
                </a:solidFill>
                <a:effectLst/>
                <a:latin typeface="+mn-lt"/>
                <a:ea typeface="+mn-ea"/>
                <a:cs typeface="+mn-cs"/>
              </a:rPr>
              <a:t>.</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Les commandes sont simples : `</a:t>
            </a:r>
            <a:r>
              <a:rPr lang="fr-FR" sz="1200" b="0" kern="1200" dirty="0" err="1">
                <a:solidFill>
                  <a:schemeClr val="tx1"/>
                </a:solidFill>
                <a:effectLst/>
                <a:latin typeface="+mn-lt"/>
                <a:ea typeface="+mn-ea"/>
                <a:cs typeface="+mn-cs"/>
              </a:rPr>
              <a:t>npx</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show </a:t>
            </a:r>
            <a:r>
              <a:rPr lang="fr-FR" sz="1200" b="0" kern="1200" dirty="0" err="1">
                <a:solidFill>
                  <a:schemeClr val="tx1"/>
                </a:solidFill>
                <a:effectLst/>
                <a:latin typeface="+mn-lt"/>
                <a:ea typeface="+mn-ea"/>
                <a:cs typeface="+mn-cs"/>
              </a:rPr>
              <a:t>projects</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affected</a:t>
            </a:r>
            <a:r>
              <a:rPr lang="fr-FR" sz="1200" b="0" kern="1200" dirty="0">
                <a:solidFill>
                  <a:schemeClr val="tx1"/>
                </a:solidFill>
                <a:effectLst/>
                <a:latin typeface="+mn-lt"/>
                <a:ea typeface="+mn-ea"/>
                <a:cs typeface="+mn-cs"/>
              </a:rPr>
              <a:t>` pour voir les projets affectés, `</a:t>
            </a:r>
            <a:r>
              <a:rPr lang="fr-FR" sz="1200" b="0" kern="1200" dirty="0" err="1">
                <a:solidFill>
                  <a:schemeClr val="tx1"/>
                </a:solidFill>
                <a:effectLst/>
                <a:latin typeface="+mn-lt"/>
                <a:ea typeface="+mn-ea"/>
                <a:cs typeface="+mn-cs"/>
              </a:rPr>
              <a:t>npx</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affected:graph</a:t>
            </a:r>
            <a:r>
              <a:rPr lang="fr-FR" sz="1200" b="0" kern="1200" dirty="0">
                <a:solidFill>
                  <a:schemeClr val="tx1"/>
                </a:solidFill>
                <a:effectLst/>
                <a:latin typeface="+mn-lt"/>
                <a:ea typeface="+mn-ea"/>
                <a:cs typeface="+mn-cs"/>
              </a:rPr>
              <a:t>` pour visualiser, et `</a:t>
            </a:r>
            <a:r>
              <a:rPr lang="fr-FR" sz="1200" b="0" kern="1200" dirty="0" err="1">
                <a:solidFill>
                  <a:schemeClr val="tx1"/>
                </a:solidFill>
                <a:effectLst/>
                <a:latin typeface="+mn-lt"/>
                <a:ea typeface="+mn-ea"/>
                <a:cs typeface="+mn-cs"/>
              </a:rPr>
              <a:t>npx</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affected</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t</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build</a:t>
            </a:r>
            <a:r>
              <a:rPr lang="fr-FR" sz="1200" b="0" kern="1200" dirty="0">
                <a:solidFill>
                  <a:schemeClr val="tx1"/>
                </a:solidFill>
                <a:effectLst/>
                <a:latin typeface="+mn-lt"/>
                <a:ea typeface="+mn-ea"/>
                <a:cs typeface="+mn-cs"/>
              </a:rPr>
              <a:t> test </a:t>
            </a:r>
            <a:r>
              <a:rPr lang="fr-FR" sz="1200" b="0" kern="1200" dirty="0" err="1">
                <a:solidFill>
                  <a:schemeClr val="tx1"/>
                </a:solidFill>
                <a:effectLst/>
                <a:latin typeface="+mn-lt"/>
                <a:ea typeface="+mn-ea"/>
                <a:cs typeface="+mn-cs"/>
              </a:rPr>
              <a:t>lint</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parallel</a:t>
            </a:r>
            <a:r>
              <a:rPr lang="fr-FR" sz="1200" b="0" kern="1200" dirty="0">
                <a:solidFill>
                  <a:schemeClr val="tx1"/>
                </a:solidFill>
                <a:effectLst/>
                <a:latin typeface="+mn-lt"/>
                <a:ea typeface="+mn-ea"/>
                <a:cs typeface="+mn-cs"/>
              </a:rPr>
              <a:t>=3` pour lancer les tâches uniquement sur ce qui a changé, en parallèle.</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**L'impact est mesurable :**</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Avant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votre pipeline CI prenait 25 à 30 minutes.</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Avec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et les </a:t>
            </a:r>
            <a:r>
              <a:rPr lang="fr-FR" sz="1200" b="0" kern="1200" dirty="0" err="1">
                <a:solidFill>
                  <a:schemeClr val="tx1"/>
                </a:solidFill>
                <a:effectLst/>
                <a:latin typeface="+mn-lt"/>
                <a:ea typeface="+mn-ea"/>
                <a:cs typeface="+mn-cs"/>
              </a:rPr>
              <a:t>affected</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commands</a:t>
            </a:r>
            <a:r>
              <a:rPr lang="fr-FR" sz="1200" b="0" kern="1200" dirty="0">
                <a:solidFill>
                  <a:schemeClr val="tx1"/>
                </a:solidFill>
                <a:effectLst/>
                <a:latin typeface="+mn-lt"/>
                <a:ea typeface="+mn-ea"/>
                <a:cs typeface="+mn-cs"/>
              </a:rPr>
              <a:t>, votre pipeline prend en moyenne 5 à 10 minutes. C'est une </a:t>
            </a:r>
            <a:r>
              <a:rPr lang="fr-FR" sz="1200" b="1" kern="1200" dirty="0">
                <a:solidFill>
                  <a:schemeClr val="tx1"/>
                </a:solidFill>
                <a:effectLst/>
                <a:latin typeface="+mn-lt"/>
                <a:ea typeface="+mn-ea"/>
                <a:cs typeface="+mn-cs"/>
              </a:rPr>
              <a:t>**réduction de 60 à 70% du temps CI**</a:t>
            </a:r>
            <a:r>
              <a:rPr lang="fr-FR" sz="1200" b="0" kern="1200" dirty="0">
                <a:solidFill>
                  <a:schemeClr val="tx1"/>
                </a:solidFill>
                <a:effectLst/>
                <a:latin typeface="+mn-lt"/>
                <a:ea typeface="+mn-ea"/>
                <a:cs typeface="+mn-cs"/>
              </a:rPr>
              <a:t>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Pour une équipe qui fait 50 </a:t>
            </a:r>
            <a:r>
              <a:rPr lang="fr-FR" sz="1200" b="0" kern="1200" dirty="0" err="1">
                <a:solidFill>
                  <a:schemeClr val="tx1"/>
                </a:solidFill>
                <a:effectLst/>
                <a:latin typeface="+mn-lt"/>
                <a:ea typeface="+mn-ea"/>
                <a:cs typeface="+mn-cs"/>
              </a:rPr>
              <a:t>commits</a:t>
            </a:r>
            <a:r>
              <a:rPr lang="fr-FR" sz="1200" b="0" kern="1200" dirty="0">
                <a:solidFill>
                  <a:schemeClr val="tx1"/>
                </a:solidFill>
                <a:effectLst/>
                <a:latin typeface="+mn-lt"/>
                <a:ea typeface="+mn-ea"/>
                <a:cs typeface="+mn-cs"/>
              </a:rPr>
              <a:t> par jour, ça représente des heures de CI économisées, et surtout un feedback beaucoup plus rapide. C'est un </a:t>
            </a:r>
            <a:r>
              <a:rPr lang="fr-FR" sz="1200" b="0" kern="1200" dirty="0" err="1">
                <a:solidFill>
                  <a:schemeClr val="tx1"/>
                </a:solidFill>
                <a:effectLst/>
                <a:latin typeface="+mn-lt"/>
                <a:ea typeface="+mn-ea"/>
                <a:cs typeface="+mn-cs"/>
              </a:rPr>
              <a:t>game</a:t>
            </a:r>
            <a:r>
              <a:rPr lang="fr-FR" sz="1200" b="0" kern="1200" dirty="0">
                <a:solidFill>
                  <a:schemeClr val="tx1"/>
                </a:solidFill>
                <a:effectLst/>
                <a:latin typeface="+mn-lt"/>
                <a:ea typeface="+mn-ea"/>
                <a:cs typeface="+mn-cs"/>
              </a:rPr>
              <a:t> changer."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kern="1200" dirty="0">
                <a:solidFill>
                  <a:schemeClr val="tx1"/>
                </a:solidFill>
                <a:effectLst/>
                <a:latin typeface="+mn-lt"/>
                <a:ea typeface="+mn-ea"/>
                <a:cs typeface="+mn-cs"/>
              </a:rPr>
              <a:t>**"</a:t>
            </a:r>
            <a:r>
              <a:rPr lang="fr-FR" sz="1200" b="1" kern="1200" dirty="0" err="1">
                <a:solidFill>
                  <a:schemeClr val="tx1"/>
                </a:solidFill>
                <a:effectLst/>
                <a:latin typeface="+mn-lt"/>
                <a:ea typeface="+mn-ea"/>
                <a:cs typeface="+mn-cs"/>
              </a:rPr>
              <a:t>Nx</a:t>
            </a:r>
            <a:r>
              <a:rPr lang="fr-FR" sz="1200" b="1" kern="1200" dirty="0">
                <a:solidFill>
                  <a:schemeClr val="tx1"/>
                </a:solidFill>
                <a:effectLst/>
                <a:latin typeface="+mn-lt"/>
                <a:ea typeface="+mn-ea"/>
                <a:cs typeface="+mn-cs"/>
              </a:rPr>
              <a:t> Cloud, c'est ce qui fait passer </a:t>
            </a:r>
            <a:r>
              <a:rPr lang="fr-FR" sz="1200" b="1" kern="1200" dirty="0" err="1">
                <a:solidFill>
                  <a:schemeClr val="tx1"/>
                </a:solidFill>
                <a:effectLst/>
                <a:latin typeface="+mn-lt"/>
                <a:ea typeface="+mn-ea"/>
                <a:cs typeface="+mn-cs"/>
              </a:rPr>
              <a:t>Nx</a:t>
            </a:r>
            <a:r>
              <a:rPr lang="fr-FR" sz="1200" b="1" kern="1200" dirty="0">
                <a:solidFill>
                  <a:schemeClr val="tx1"/>
                </a:solidFill>
                <a:effectLst/>
                <a:latin typeface="+mn-lt"/>
                <a:ea typeface="+mn-ea"/>
                <a:cs typeface="+mn-cs"/>
              </a:rPr>
              <a:t> au niveau supérieur.**</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Cloud est le </a:t>
            </a:r>
            <a:r>
              <a:rPr lang="fr-FR" sz="1200" b="1" kern="1200" dirty="0">
                <a:solidFill>
                  <a:schemeClr val="tx1"/>
                </a:solidFill>
                <a:effectLst/>
                <a:latin typeface="+mn-lt"/>
                <a:ea typeface="+mn-ea"/>
                <a:cs typeface="+mn-cs"/>
              </a:rPr>
              <a:t>**service cloud officiel**</a:t>
            </a:r>
            <a:r>
              <a:rPr lang="fr-FR" sz="1200" b="0" kern="1200" dirty="0">
                <a:solidFill>
                  <a:schemeClr val="tx1"/>
                </a:solidFill>
                <a:effectLst/>
                <a:latin typeface="+mn-lt"/>
                <a:ea typeface="+mn-ea"/>
                <a:cs typeface="+mn-cs"/>
              </a:rPr>
              <a:t> de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qui propose principalement quatre choses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Le </a:t>
            </a:r>
            <a:r>
              <a:rPr lang="fr-FR" sz="1200" b="1" kern="1200" dirty="0">
                <a:solidFill>
                  <a:schemeClr val="tx1"/>
                </a:solidFill>
                <a:effectLst/>
                <a:latin typeface="+mn-lt"/>
                <a:ea typeface="+mn-ea"/>
                <a:cs typeface="+mn-cs"/>
              </a:rPr>
              <a:t>**cache distribué**</a:t>
            </a:r>
            <a:r>
              <a:rPr lang="fr-FR" sz="1200" b="0" kern="1200" dirty="0">
                <a:solidFill>
                  <a:schemeClr val="tx1"/>
                </a:solidFill>
                <a:effectLst/>
                <a:latin typeface="+mn-lt"/>
                <a:ea typeface="+mn-ea"/>
                <a:cs typeface="+mn-cs"/>
              </a:rPr>
              <a:t> partagé entre tous les développeurs et la CI</a:t>
            </a:r>
          </a:p>
          <a:p>
            <a:r>
              <a:rPr lang="fr-FR" sz="1200" b="0" kern="1200" dirty="0">
                <a:solidFill>
                  <a:schemeClr val="tx1"/>
                </a:solidFill>
                <a:effectLst/>
                <a:latin typeface="+mn-lt"/>
                <a:ea typeface="+mn-ea"/>
                <a:cs typeface="+mn-cs"/>
              </a:rPr>
              <a:t>- Le </a:t>
            </a:r>
            <a:r>
              <a:rPr lang="fr-FR" sz="1200" b="1" kern="1200" dirty="0">
                <a:solidFill>
                  <a:schemeClr val="tx1"/>
                </a:solidFill>
                <a:effectLst/>
                <a:latin typeface="+mn-lt"/>
                <a:ea typeface="+mn-ea"/>
                <a:cs typeface="+mn-cs"/>
              </a:rPr>
              <a:t>**Distributed </a:t>
            </a:r>
            <a:r>
              <a:rPr lang="fr-FR" sz="1200" b="1" kern="1200" dirty="0" err="1">
                <a:solidFill>
                  <a:schemeClr val="tx1"/>
                </a:solidFill>
                <a:effectLst/>
                <a:latin typeface="+mn-lt"/>
                <a:ea typeface="+mn-ea"/>
                <a:cs typeface="+mn-cs"/>
              </a:rPr>
              <a:t>Task</a:t>
            </a:r>
            <a:r>
              <a:rPr lang="fr-FR" sz="1200" b="1" kern="1200" dirty="0">
                <a:solidFill>
                  <a:schemeClr val="tx1"/>
                </a:solidFill>
                <a:effectLst/>
                <a:latin typeface="+mn-lt"/>
                <a:ea typeface="+mn-ea"/>
                <a:cs typeface="+mn-cs"/>
              </a:rPr>
              <a:t> </a:t>
            </a:r>
            <a:r>
              <a:rPr lang="fr-FR" sz="1200" b="1" kern="1200" dirty="0" err="1">
                <a:solidFill>
                  <a:schemeClr val="tx1"/>
                </a:solidFill>
                <a:effectLst/>
                <a:latin typeface="+mn-lt"/>
                <a:ea typeface="+mn-ea"/>
                <a:cs typeface="+mn-cs"/>
              </a:rPr>
              <a:t>Execution</a:t>
            </a:r>
            <a:r>
              <a:rPr lang="fr-FR" sz="1200" b="1" kern="1200" dirty="0">
                <a:solidFill>
                  <a:schemeClr val="tx1"/>
                </a:solidFill>
                <a:effectLst/>
                <a:latin typeface="+mn-lt"/>
                <a:ea typeface="+mn-ea"/>
                <a:cs typeface="+mn-cs"/>
              </a:rPr>
              <a:t>**</a:t>
            </a:r>
            <a:r>
              <a:rPr lang="fr-FR" sz="1200" b="0" kern="1200" dirty="0">
                <a:solidFill>
                  <a:schemeClr val="tx1"/>
                </a:solidFill>
                <a:effectLst/>
                <a:latin typeface="+mn-lt"/>
                <a:ea typeface="+mn-ea"/>
                <a:cs typeface="+mn-cs"/>
              </a:rPr>
              <a:t> pour paralléliser massivement vos tâches</a:t>
            </a:r>
          </a:p>
          <a:p>
            <a:r>
              <a:rPr lang="fr-FR" sz="1200" b="0" kern="1200" dirty="0">
                <a:solidFill>
                  <a:schemeClr val="tx1"/>
                </a:solidFill>
                <a:effectLst/>
                <a:latin typeface="+mn-lt"/>
                <a:ea typeface="+mn-ea"/>
                <a:cs typeface="+mn-cs"/>
              </a:rPr>
              <a:t>- Des </a:t>
            </a:r>
            <a:r>
              <a:rPr lang="fr-FR" sz="1200" b="1" kern="1200" dirty="0">
                <a:solidFill>
                  <a:schemeClr val="tx1"/>
                </a:solidFill>
                <a:effectLst/>
                <a:latin typeface="+mn-lt"/>
                <a:ea typeface="+mn-ea"/>
                <a:cs typeface="+mn-cs"/>
              </a:rPr>
              <a:t>**</a:t>
            </a:r>
            <a:r>
              <a:rPr lang="fr-FR" sz="1200" b="1" kern="1200" dirty="0" err="1">
                <a:solidFill>
                  <a:schemeClr val="tx1"/>
                </a:solidFill>
                <a:effectLst/>
                <a:latin typeface="+mn-lt"/>
                <a:ea typeface="+mn-ea"/>
                <a:cs typeface="+mn-cs"/>
              </a:rPr>
              <a:t>analytics</a:t>
            </a:r>
            <a:r>
              <a:rPr lang="fr-FR" sz="1200" b="1" kern="1200" dirty="0">
                <a:solidFill>
                  <a:schemeClr val="tx1"/>
                </a:solidFill>
                <a:effectLst/>
                <a:latin typeface="+mn-lt"/>
                <a:ea typeface="+mn-ea"/>
                <a:cs typeface="+mn-cs"/>
              </a:rPr>
              <a:t> et insights**</a:t>
            </a:r>
            <a:r>
              <a:rPr lang="fr-FR" sz="1200" b="0" kern="1200" dirty="0">
                <a:solidFill>
                  <a:schemeClr val="tx1"/>
                </a:solidFill>
                <a:effectLst/>
                <a:latin typeface="+mn-lt"/>
                <a:ea typeface="+mn-ea"/>
                <a:cs typeface="+mn-cs"/>
              </a:rPr>
              <a:t> pour optimiser vos performances</a:t>
            </a:r>
          </a:p>
          <a:p>
            <a:r>
              <a:rPr lang="fr-FR" sz="1200" b="0" kern="1200" dirty="0">
                <a:solidFill>
                  <a:schemeClr val="tx1"/>
                </a:solidFill>
                <a:effectLst/>
                <a:latin typeface="+mn-lt"/>
                <a:ea typeface="+mn-ea"/>
                <a:cs typeface="+mn-cs"/>
              </a:rPr>
              <a:t>- L'</a:t>
            </a:r>
            <a:r>
              <a:rPr lang="fr-FR" sz="1200" b="1" kern="1200" dirty="0">
                <a:solidFill>
                  <a:schemeClr val="tx1"/>
                </a:solidFill>
                <a:effectLst/>
                <a:latin typeface="+mn-lt"/>
                <a:ea typeface="+mn-ea"/>
                <a:cs typeface="+mn-cs"/>
              </a:rPr>
              <a:t>**intégration avec GitHub, </a:t>
            </a:r>
            <a:r>
              <a:rPr lang="fr-FR" sz="1200" b="1" kern="1200" dirty="0" err="1">
                <a:solidFill>
                  <a:schemeClr val="tx1"/>
                </a:solidFill>
                <a:effectLst/>
                <a:latin typeface="+mn-lt"/>
                <a:ea typeface="+mn-ea"/>
                <a:cs typeface="+mn-cs"/>
              </a:rPr>
              <a:t>GitLab</a:t>
            </a:r>
            <a:r>
              <a:rPr lang="fr-FR" sz="1200" b="1" kern="1200" dirty="0">
                <a:solidFill>
                  <a:schemeClr val="tx1"/>
                </a:solidFill>
                <a:effectLst/>
                <a:latin typeface="+mn-lt"/>
                <a:ea typeface="+mn-ea"/>
                <a:cs typeface="+mn-cs"/>
              </a:rPr>
              <a:t>, </a:t>
            </a:r>
            <a:r>
              <a:rPr lang="fr-FR" sz="1200" b="1" kern="1200" dirty="0" err="1">
                <a:solidFill>
                  <a:schemeClr val="tx1"/>
                </a:solidFill>
                <a:effectLst/>
                <a:latin typeface="+mn-lt"/>
                <a:ea typeface="+mn-ea"/>
                <a:cs typeface="+mn-cs"/>
              </a:rPr>
              <a:t>Bitbucket</a:t>
            </a:r>
            <a:r>
              <a:rPr lang="fr-FR" sz="1200" b="1" kern="1200" dirty="0">
                <a:solidFill>
                  <a:schemeClr val="tx1"/>
                </a:solidFill>
                <a:effectLst/>
                <a:latin typeface="+mn-lt"/>
                <a:ea typeface="+mn-ea"/>
                <a:cs typeface="+mn-cs"/>
              </a:rPr>
              <a:t>**</a:t>
            </a:r>
            <a:r>
              <a:rPr lang="fr-FR" sz="1200" b="0" kern="1200" dirty="0">
                <a:solidFill>
                  <a:schemeClr val="tx1"/>
                </a:solidFill>
                <a:effectLst/>
                <a:latin typeface="+mn-lt"/>
                <a:ea typeface="+mn-ea"/>
                <a:cs typeface="+mn-cs"/>
              </a:rPr>
              <a:t> pour vos Pull </a:t>
            </a:r>
            <a:r>
              <a:rPr lang="fr-FR" sz="1200" b="0" kern="1200" dirty="0" err="1">
                <a:solidFill>
                  <a:schemeClr val="tx1"/>
                </a:solidFill>
                <a:effectLst/>
                <a:latin typeface="+mn-lt"/>
                <a:ea typeface="+mn-ea"/>
                <a:cs typeface="+mn-cs"/>
              </a:rPr>
              <a:t>Requests</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**Le pouvoir du cache distribué :**</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Laissez-moi vous donner un scénario concret.</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Le développeur A </a:t>
            </a:r>
            <a:r>
              <a:rPr lang="fr-FR" sz="1200" b="0" kern="1200" dirty="0" err="1">
                <a:solidFill>
                  <a:schemeClr val="tx1"/>
                </a:solidFill>
                <a:effectLst/>
                <a:latin typeface="+mn-lt"/>
                <a:ea typeface="+mn-ea"/>
                <a:cs typeface="+mn-cs"/>
              </a:rPr>
              <a:t>build</a:t>
            </a:r>
            <a:r>
              <a:rPr lang="fr-FR" sz="1200" b="0" kern="1200" dirty="0">
                <a:solidFill>
                  <a:schemeClr val="tx1"/>
                </a:solidFill>
                <a:effectLst/>
                <a:latin typeface="+mn-lt"/>
                <a:ea typeface="+mn-ea"/>
                <a:cs typeface="+mn-cs"/>
              </a:rPr>
              <a:t> le frontend : 30 secondes. Le résultat est automatiquement envoyé dans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Cloud.</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Le développeur B, qui n'a pas ce code en local, récupère les changements et lance le </a:t>
            </a:r>
            <a:r>
              <a:rPr lang="fr-FR" sz="1200" b="0" kern="1200" dirty="0" err="1">
                <a:solidFill>
                  <a:schemeClr val="tx1"/>
                </a:solidFill>
                <a:effectLst/>
                <a:latin typeface="+mn-lt"/>
                <a:ea typeface="+mn-ea"/>
                <a:cs typeface="+mn-cs"/>
              </a:rPr>
              <a:t>build</a:t>
            </a:r>
            <a:r>
              <a:rPr lang="fr-FR" sz="1200" b="0" kern="1200" dirty="0">
                <a:solidFill>
                  <a:schemeClr val="tx1"/>
                </a:solidFill>
                <a:effectLst/>
                <a:latin typeface="+mn-lt"/>
                <a:ea typeface="+mn-ea"/>
                <a:cs typeface="+mn-cs"/>
              </a:rPr>
              <a:t> : 0,1 seconde ! Il récupère instantanément le résultat depuis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Cloud.</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Et quand le pipeline CI s'exécute sur la même Pull </a:t>
            </a:r>
            <a:r>
              <a:rPr lang="fr-FR" sz="1200" b="0" kern="1200" dirty="0" err="1">
                <a:solidFill>
                  <a:schemeClr val="tx1"/>
                </a:solidFill>
                <a:effectLst/>
                <a:latin typeface="+mn-lt"/>
                <a:ea typeface="+mn-ea"/>
                <a:cs typeface="+mn-cs"/>
              </a:rPr>
              <a:t>Request</a:t>
            </a:r>
            <a:r>
              <a:rPr lang="fr-FR" sz="1200" b="0" kern="1200" dirty="0">
                <a:solidFill>
                  <a:schemeClr val="tx1"/>
                </a:solidFill>
                <a:effectLst/>
                <a:latin typeface="+mn-lt"/>
                <a:ea typeface="+mn-ea"/>
                <a:cs typeface="+mn-cs"/>
              </a:rPr>
              <a:t> : 0,1 seconde aussi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**Tout le monde bénéficie du travail de chacun**</a:t>
            </a:r>
            <a:r>
              <a:rPr lang="fr-FR" sz="1200" b="0" kern="1200" dirty="0">
                <a:solidFill>
                  <a:schemeClr val="tx1"/>
                </a:solidFill>
                <a:effectLst/>
                <a:latin typeface="+mn-lt"/>
                <a:ea typeface="+mn-ea"/>
                <a:cs typeface="+mn-cs"/>
              </a:rPr>
              <a:t> ! C'est ça, la puissance du cache distribué.</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**Les fonctionnalités avancées :**</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Le </a:t>
            </a:r>
            <a:r>
              <a:rPr lang="fr-FR" sz="1200" b="0" kern="1200" dirty="0" err="1">
                <a:solidFill>
                  <a:schemeClr val="tx1"/>
                </a:solidFill>
                <a:effectLst/>
                <a:latin typeface="+mn-lt"/>
                <a:ea typeface="+mn-ea"/>
                <a:cs typeface="+mn-cs"/>
              </a:rPr>
              <a:t>dashboard</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analytics</a:t>
            </a:r>
            <a:r>
              <a:rPr lang="fr-FR" sz="1200" b="0" kern="1200" dirty="0">
                <a:solidFill>
                  <a:schemeClr val="tx1"/>
                </a:solidFill>
                <a:effectLst/>
                <a:latin typeface="+mn-lt"/>
                <a:ea typeface="+mn-ea"/>
                <a:cs typeface="+mn-cs"/>
              </a:rPr>
              <a:t> vous permet de voir les performances de chaque tâche, d'identifier les </a:t>
            </a:r>
            <a:r>
              <a:rPr lang="fr-FR" sz="1200" b="0" kern="1200" dirty="0" err="1">
                <a:solidFill>
                  <a:schemeClr val="tx1"/>
                </a:solidFill>
                <a:effectLst/>
                <a:latin typeface="+mn-lt"/>
                <a:ea typeface="+mn-ea"/>
                <a:cs typeface="+mn-cs"/>
              </a:rPr>
              <a:t>bottlenecks</a:t>
            </a:r>
            <a:r>
              <a:rPr lang="fr-FR" sz="1200" b="0" kern="1200" dirty="0">
                <a:solidFill>
                  <a:schemeClr val="tx1"/>
                </a:solidFill>
                <a:effectLst/>
                <a:latin typeface="+mn-lt"/>
                <a:ea typeface="+mn-ea"/>
                <a:cs typeface="+mn-cs"/>
              </a:rPr>
              <a:t>, et de mesurer votre taux d'utilisation du cache.</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Le Distributed </a:t>
            </a:r>
            <a:r>
              <a:rPr lang="fr-FR" sz="1200" b="0" kern="1200" dirty="0" err="1">
                <a:solidFill>
                  <a:schemeClr val="tx1"/>
                </a:solidFill>
                <a:effectLst/>
                <a:latin typeface="+mn-lt"/>
                <a:ea typeface="+mn-ea"/>
                <a:cs typeface="+mn-cs"/>
              </a:rPr>
              <a:t>Task</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Execution</a:t>
            </a:r>
            <a:r>
              <a:rPr lang="fr-FR" sz="1200" b="0" kern="1200" dirty="0">
                <a:solidFill>
                  <a:schemeClr val="tx1"/>
                </a:solidFill>
                <a:effectLst/>
                <a:latin typeface="+mn-lt"/>
                <a:ea typeface="+mn-ea"/>
                <a:cs typeface="+mn-cs"/>
              </a:rPr>
              <a:t> va encore plus loin : il répartit vos tâches sur plusieurs agents CI en parallèle. Au lieu d'avoir 3-4 tâches qui tournent en parallèle, vous pouvez en avoir 10, 20, ou même 50 simultanément. Le gain peut aller jusqu'à 90% de réduction du temps CI.</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Et l'intégration PR est excellente :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Cloud poste automatiquement des commentaires sur vos Pull </a:t>
            </a:r>
            <a:r>
              <a:rPr lang="fr-FR" sz="1200" b="0" kern="1200" dirty="0" err="1">
                <a:solidFill>
                  <a:schemeClr val="tx1"/>
                </a:solidFill>
                <a:effectLst/>
                <a:latin typeface="+mn-lt"/>
                <a:ea typeface="+mn-ea"/>
                <a:cs typeface="+mn-cs"/>
              </a:rPr>
              <a:t>Requests</a:t>
            </a:r>
            <a:r>
              <a:rPr lang="fr-FR" sz="1200" b="0" kern="1200" dirty="0">
                <a:solidFill>
                  <a:schemeClr val="tx1"/>
                </a:solidFill>
                <a:effectLst/>
                <a:latin typeface="+mn-lt"/>
                <a:ea typeface="+mn-ea"/>
                <a:cs typeface="+mn-cs"/>
              </a:rPr>
              <a:t> avec les temps d'exécution, des liens vers les logs, et des statistiques.</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Je vous montrerai le </a:t>
            </a:r>
            <a:r>
              <a:rPr lang="fr-FR" sz="1200" b="0" kern="1200" dirty="0" err="1">
                <a:solidFill>
                  <a:schemeClr val="tx1"/>
                </a:solidFill>
                <a:effectLst/>
                <a:latin typeface="+mn-lt"/>
                <a:ea typeface="+mn-ea"/>
                <a:cs typeface="+mn-cs"/>
              </a:rPr>
              <a:t>dashboard</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Cloud dans la démo."</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kern="1200" dirty="0">
                <a:solidFill>
                  <a:schemeClr val="tx1"/>
                </a:solidFill>
                <a:effectLst/>
                <a:latin typeface="+mn-lt"/>
                <a:ea typeface="+mn-ea"/>
                <a:cs typeface="+mn-cs"/>
              </a:rPr>
              <a:t>**"Parlons maintenant des plans tarifaires de </a:t>
            </a:r>
            <a:r>
              <a:rPr lang="fr-FR" sz="1200" b="1" kern="1200" dirty="0" err="1">
                <a:solidFill>
                  <a:schemeClr val="tx1"/>
                </a:solidFill>
                <a:effectLst/>
                <a:latin typeface="+mn-lt"/>
                <a:ea typeface="+mn-ea"/>
                <a:cs typeface="+mn-cs"/>
              </a:rPr>
              <a:t>Nx</a:t>
            </a:r>
            <a:r>
              <a:rPr lang="fr-FR" sz="1200" b="1" kern="1200" dirty="0">
                <a:solidFill>
                  <a:schemeClr val="tx1"/>
                </a:solidFill>
                <a:effectLst/>
                <a:latin typeface="+mn-lt"/>
                <a:ea typeface="+mn-ea"/>
                <a:cs typeface="+mn-cs"/>
              </a:rPr>
              <a:t> Cloud.**</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a:t>
            </a:r>
            <a:r>
              <a:rPr lang="fr-FR" sz="1200" b="1" kern="1200" dirty="0" err="1">
                <a:solidFill>
                  <a:schemeClr val="tx1"/>
                </a:solidFill>
                <a:effectLst/>
                <a:latin typeface="+mn-lt"/>
                <a:ea typeface="+mn-ea"/>
                <a:cs typeface="+mn-cs"/>
              </a:rPr>
              <a:t>Nx</a:t>
            </a:r>
            <a:r>
              <a:rPr lang="fr-FR" sz="1200" b="1" kern="1200" dirty="0">
                <a:solidFill>
                  <a:schemeClr val="tx1"/>
                </a:solidFill>
                <a:effectLst/>
                <a:latin typeface="+mn-lt"/>
                <a:ea typeface="+mn-ea"/>
                <a:cs typeface="+mn-cs"/>
              </a:rPr>
              <a:t> Cloud propose 3 plans :**</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**1. Le plan Hobby**</a:t>
            </a:r>
            <a:r>
              <a:rPr lang="fr-FR" sz="1200" b="0" kern="1200" dirty="0">
                <a:solidFill>
                  <a:schemeClr val="tx1"/>
                </a:solidFill>
                <a:effectLst/>
                <a:latin typeface="+mn-lt"/>
                <a:ea typeface="+mn-ea"/>
                <a:cs typeface="+mn-cs"/>
              </a:rPr>
              <a:t> - Gratuit</a:t>
            </a:r>
          </a:p>
          <a:p>
            <a:r>
              <a:rPr lang="fr-FR" sz="1200" b="0" kern="1200" dirty="0">
                <a:solidFill>
                  <a:schemeClr val="tx1"/>
                </a:solidFill>
                <a:effectLst/>
                <a:latin typeface="+mn-lt"/>
                <a:ea typeface="+mn-ea"/>
                <a:cs typeface="+mn-cs"/>
              </a:rPr>
              <a:t>Parfait pour démarrer ou pour les projets open-source. Vous avez des utilisateurs illimités, 50 GB de cache, mais pas de Distributed </a:t>
            </a:r>
            <a:r>
              <a:rPr lang="fr-FR" sz="1200" b="0" kern="1200" dirty="0" err="1">
                <a:solidFill>
                  <a:schemeClr val="tx1"/>
                </a:solidFill>
                <a:effectLst/>
                <a:latin typeface="+mn-lt"/>
                <a:ea typeface="+mn-ea"/>
                <a:cs typeface="+mn-cs"/>
              </a:rPr>
              <a:t>Task</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Execution</a:t>
            </a:r>
            <a:r>
              <a:rPr lang="fr-FR" sz="1200" b="0" kern="1200" dirty="0">
                <a:solidFill>
                  <a:schemeClr val="tx1"/>
                </a:solidFill>
                <a:effectLst/>
                <a:latin typeface="+mn-lt"/>
                <a:ea typeface="+mn-ea"/>
                <a:cs typeface="+mn-cs"/>
              </a:rPr>
              <a:t>. Le support se fait via la communauté.</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**2. Le plan Pro**</a:t>
            </a:r>
            <a:r>
              <a:rPr lang="fr-FR" sz="1200" b="0" kern="1200" dirty="0">
                <a:solidFill>
                  <a:schemeClr val="tx1"/>
                </a:solidFill>
                <a:effectLst/>
                <a:latin typeface="+mn-lt"/>
                <a:ea typeface="+mn-ea"/>
                <a:cs typeface="+mn-cs"/>
              </a:rPr>
              <a:t> - 49€ par mois</a:t>
            </a:r>
          </a:p>
          <a:p>
            <a:r>
              <a:rPr lang="fr-FR" sz="1200" b="0" kern="1200" dirty="0">
                <a:solidFill>
                  <a:schemeClr val="tx1"/>
                </a:solidFill>
                <a:effectLst/>
                <a:latin typeface="+mn-lt"/>
                <a:ea typeface="+mn-ea"/>
                <a:cs typeface="+mn-cs"/>
              </a:rPr>
              <a:t>Pour les petites équipes et startups. Toujours des utilisateurs illimités, 500 GB de cache, et vous débloquez le DTE avec 2 agents parallèles. Support par email.</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**3. Le plan Enterprise**</a:t>
            </a:r>
            <a:r>
              <a:rPr lang="fr-FR" sz="1200" b="0" kern="1200" dirty="0">
                <a:solidFill>
                  <a:schemeClr val="tx1"/>
                </a:solidFill>
                <a:effectLst/>
                <a:latin typeface="+mn-lt"/>
                <a:ea typeface="+mn-ea"/>
                <a:cs typeface="+mn-cs"/>
              </a:rPr>
              <a:t> - Sur devis</a:t>
            </a:r>
          </a:p>
          <a:p>
            <a:r>
              <a:rPr lang="fr-FR" sz="1200" b="0" kern="1200" dirty="0">
                <a:solidFill>
                  <a:schemeClr val="tx1"/>
                </a:solidFill>
                <a:effectLst/>
                <a:latin typeface="+mn-lt"/>
                <a:ea typeface="+mn-ea"/>
                <a:cs typeface="+mn-cs"/>
              </a:rPr>
              <a:t>C'est ce plan que je recommande pour Generali. Pourquoi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**Pour Generali, le plan Enterprise est le plus adapté :**</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Avec vos équipes de plus de 100 développeurs, vous avez besoin de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a:t>
            </a:r>
            <a:r>
              <a:rPr lang="fr-FR" sz="1200" b="1" kern="1200" dirty="0">
                <a:solidFill>
                  <a:schemeClr val="tx1"/>
                </a:solidFill>
                <a:effectLst/>
                <a:latin typeface="+mn-lt"/>
                <a:ea typeface="+mn-ea"/>
                <a:cs typeface="+mn-cs"/>
              </a:rPr>
              <a:t>**Sécurité et conformité renforcées**</a:t>
            </a:r>
            <a:r>
              <a:rPr lang="fr-FR" sz="1200" b="0" kern="1200" dirty="0">
                <a:solidFill>
                  <a:schemeClr val="tx1"/>
                </a:solidFill>
                <a:effectLst/>
                <a:latin typeface="+mn-lt"/>
                <a:ea typeface="+mn-ea"/>
                <a:cs typeface="+mn-cs"/>
              </a:rPr>
              <a:t> - Critical pour une entreprise comme Generali</a:t>
            </a:r>
          </a:p>
          <a:p>
            <a:r>
              <a:rPr lang="fr-FR" sz="1200" b="0" kern="1200" dirty="0">
                <a:solidFill>
                  <a:schemeClr val="tx1"/>
                </a:solidFill>
                <a:effectLst/>
                <a:latin typeface="+mn-lt"/>
                <a:ea typeface="+mn-ea"/>
                <a:cs typeface="+mn-cs"/>
              </a:rPr>
              <a:t>- </a:t>
            </a:r>
            <a:r>
              <a:rPr lang="fr-FR" sz="1200" b="1" kern="1200" dirty="0">
                <a:solidFill>
                  <a:schemeClr val="tx1"/>
                </a:solidFill>
                <a:effectLst/>
                <a:latin typeface="+mn-lt"/>
                <a:ea typeface="+mn-ea"/>
                <a:cs typeface="+mn-cs"/>
              </a:rPr>
              <a:t>**Cache distribué illimité**</a:t>
            </a:r>
            <a:r>
              <a:rPr lang="fr-FR" sz="1200" b="0" kern="1200" dirty="0">
                <a:solidFill>
                  <a:schemeClr val="tx1"/>
                </a:solidFill>
                <a:effectLst/>
                <a:latin typeface="+mn-lt"/>
                <a:ea typeface="+mn-ea"/>
                <a:cs typeface="+mn-cs"/>
              </a:rPr>
              <a:t> - Pas de limite de stockage</a:t>
            </a:r>
          </a:p>
          <a:p>
            <a:r>
              <a:rPr lang="fr-FR" sz="1200" b="0" kern="1200" dirty="0">
                <a:solidFill>
                  <a:schemeClr val="tx1"/>
                </a:solidFill>
                <a:effectLst/>
                <a:latin typeface="+mn-lt"/>
                <a:ea typeface="+mn-ea"/>
                <a:cs typeface="+mn-cs"/>
              </a:rPr>
              <a:t>- </a:t>
            </a:r>
            <a:r>
              <a:rPr lang="fr-FR" sz="1200" b="1" kern="1200" dirty="0">
                <a:solidFill>
                  <a:schemeClr val="tx1"/>
                </a:solidFill>
                <a:effectLst/>
                <a:latin typeface="+mn-lt"/>
                <a:ea typeface="+mn-ea"/>
                <a:cs typeface="+mn-cs"/>
              </a:rPr>
              <a:t>**DTE avec agents illimités**</a:t>
            </a:r>
            <a:r>
              <a:rPr lang="fr-FR" sz="1200" b="0" kern="1200" dirty="0">
                <a:solidFill>
                  <a:schemeClr val="tx1"/>
                </a:solidFill>
                <a:effectLst/>
                <a:latin typeface="+mn-lt"/>
                <a:ea typeface="+mn-ea"/>
                <a:cs typeface="+mn-cs"/>
              </a:rPr>
              <a:t> - Votre pipeline peut être 10 fois plus rapide grâce à une parallélisation massive</a:t>
            </a:r>
          </a:p>
          <a:p>
            <a:r>
              <a:rPr lang="fr-FR" sz="1200" b="0" kern="1200" dirty="0">
                <a:solidFill>
                  <a:schemeClr val="tx1"/>
                </a:solidFill>
                <a:effectLst/>
                <a:latin typeface="+mn-lt"/>
                <a:ea typeface="+mn-ea"/>
                <a:cs typeface="+mn-cs"/>
              </a:rPr>
              <a:t>- </a:t>
            </a:r>
            <a:r>
              <a:rPr lang="fr-FR" sz="1200" b="1" kern="1200" dirty="0">
                <a:solidFill>
                  <a:schemeClr val="tx1"/>
                </a:solidFill>
                <a:effectLst/>
                <a:latin typeface="+mn-lt"/>
                <a:ea typeface="+mn-ea"/>
                <a:cs typeface="+mn-cs"/>
              </a:rPr>
              <a:t>**Support prioritaire**</a:t>
            </a:r>
            <a:r>
              <a:rPr lang="fr-FR" sz="1200" b="0" kern="1200" dirty="0">
                <a:solidFill>
                  <a:schemeClr val="tx1"/>
                </a:solidFill>
                <a:effectLst/>
                <a:latin typeface="+mn-lt"/>
                <a:ea typeface="+mn-ea"/>
                <a:cs typeface="+mn-cs"/>
              </a:rPr>
              <a:t> - Vous avez un </a:t>
            </a:r>
            <a:r>
              <a:rPr lang="fr-FR" sz="1200" b="0" kern="1200" dirty="0" err="1">
                <a:solidFill>
                  <a:schemeClr val="tx1"/>
                </a:solidFill>
                <a:effectLst/>
                <a:latin typeface="+mn-lt"/>
                <a:ea typeface="+mn-ea"/>
                <a:cs typeface="+mn-cs"/>
              </a:rPr>
              <a:t>Technical</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Account</a:t>
            </a:r>
            <a:r>
              <a:rPr lang="fr-FR" sz="1200" b="0" kern="1200" dirty="0">
                <a:solidFill>
                  <a:schemeClr val="tx1"/>
                </a:solidFill>
                <a:effectLst/>
                <a:latin typeface="+mn-lt"/>
                <a:ea typeface="+mn-ea"/>
                <a:cs typeface="+mn-cs"/>
              </a:rPr>
              <a:t> Manager dédié</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Le coût estimé est d'environ </a:t>
            </a:r>
            <a:r>
              <a:rPr lang="fr-FR" sz="1200" b="1" kern="1200" dirty="0">
                <a:solidFill>
                  <a:schemeClr val="tx1"/>
                </a:solidFill>
                <a:effectLst/>
                <a:latin typeface="+mn-lt"/>
                <a:ea typeface="+mn-ea"/>
                <a:cs typeface="+mn-cs"/>
              </a:rPr>
              <a:t>**2000€ par mois**</a:t>
            </a:r>
            <a:r>
              <a:rPr lang="fr-FR" sz="1200" b="0" kern="1200" dirty="0">
                <a:solidFill>
                  <a:schemeClr val="tx1"/>
                </a:solidFill>
                <a:effectLst/>
                <a:latin typeface="+mn-lt"/>
                <a:ea typeface="+mn-ea"/>
                <a:cs typeface="+mn-cs"/>
              </a:rPr>
              <a:t> pour le plan Enterprise. Mais attendez de voir le retour sur investissement dans le slide suivant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kern="1200" dirty="0">
                <a:solidFill>
                  <a:schemeClr val="tx1"/>
                </a:solidFill>
                <a:effectLst/>
                <a:latin typeface="+mn-lt"/>
                <a:ea typeface="+mn-ea"/>
                <a:cs typeface="+mn-cs"/>
              </a:rPr>
              <a:t>**"Maintenant, regardons le ROI concret avec des chiffres.**</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J'ai pris l'exemple d'une </a:t>
            </a:r>
            <a:r>
              <a:rPr lang="fr-FR" sz="1200" b="1" kern="1200" dirty="0">
                <a:solidFill>
                  <a:schemeClr val="tx1"/>
                </a:solidFill>
                <a:effectLst/>
                <a:latin typeface="+mn-lt"/>
                <a:ea typeface="+mn-ea"/>
                <a:cs typeface="+mn-cs"/>
              </a:rPr>
              <a:t>**équipe de 10 développeurs**</a:t>
            </a:r>
            <a:r>
              <a:rPr lang="fr-FR" sz="1200" b="0" kern="1200" dirty="0">
                <a:solidFill>
                  <a:schemeClr val="tx1"/>
                </a:solidFill>
                <a:effectLst/>
                <a:latin typeface="+mn-lt"/>
                <a:ea typeface="+mn-ea"/>
                <a:cs typeface="+mn-cs"/>
              </a:rPr>
              <a:t>, mais imaginez l'échelle de Generali.</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Vous voyez sur l'écran deux tableaux côte à côte qui comparent la situation sans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et avec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Enterprise.</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**Sans </a:t>
            </a:r>
            <a:r>
              <a:rPr lang="fr-FR" sz="1200" b="1" kern="1200" dirty="0" err="1">
                <a:solidFill>
                  <a:schemeClr val="tx1"/>
                </a:solidFill>
                <a:effectLst/>
                <a:latin typeface="+mn-lt"/>
                <a:ea typeface="+mn-ea"/>
                <a:cs typeface="+mn-cs"/>
              </a:rPr>
              <a:t>Nx</a:t>
            </a:r>
            <a:r>
              <a:rPr lang="fr-FR" sz="1200" b="1" kern="1200" dirty="0">
                <a:solidFill>
                  <a:schemeClr val="tx1"/>
                </a:solidFill>
                <a:effectLst/>
                <a:latin typeface="+mn-lt"/>
                <a:ea typeface="+mn-ea"/>
                <a:cs typeface="+mn-cs"/>
              </a:rPr>
              <a:t> :**</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Votre temps CI/CD moyen est de 30 minutes par commit. Avec 50 </a:t>
            </a:r>
            <a:r>
              <a:rPr lang="fr-FR" sz="1200" b="0" kern="1200" dirty="0" err="1">
                <a:solidFill>
                  <a:schemeClr val="tx1"/>
                </a:solidFill>
                <a:effectLst/>
                <a:latin typeface="+mn-lt"/>
                <a:ea typeface="+mn-ea"/>
                <a:cs typeface="+mn-cs"/>
              </a:rPr>
              <a:t>commits</a:t>
            </a:r>
            <a:r>
              <a:rPr lang="fr-FR" sz="1200" b="0" kern="1200" dirty="0">
                <a:solidFill>
                  <a:schemeClr val="tx1"/>
                </a:solidFill>
                <a:effectLst/>
                <a:latin typeface="+mn-lt"/>
                <a:ea typeface="+mn-ea"/>
                <a:cs typeface="+mn-cs"/>
              </a:rPr>
              <a:t> par jour, ça fait 25 heures de CI qui tournent. L'infrastructure coûte environ 1000€ par mois.</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Mais le coût le plus important, c'est le temps d'attente des développeurs. À chaque commit, ils attendent que les tests passent. Sur une journée, ça fait 5 heures d'attente cumulées pour l'équipe. En coût salarial, c'est environ 15 000€ par mois.</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**Total sans </a:t>
            </a:r>
            <a:r>
              <a:rPr lang="fr-FR" sz="1200" b="1" kern="1200" dirty="0" err="1">
                <a:solidFill>
                  <a:schemeClr val="tx1"/>
                </a:solidFill>
                <a:effectLst/>
                <a:latin typeface="+mn-lt"/>
                <a:ea typeface="+mn-ea"/>
                <a:cs typeface="+mn-cs"/>
              </a:rPr>
              <a:t>Nx</a:t>
            </a:r>
            <a:r>
              <a:rPr lang="fr-FR" sz="1200" b="1" kern="1200" dirty="0">
                <a:solidFill>
                  <a:schemeClr val="tx1"/>
                </a:solidFill>
                <a:effectLst/>
                <a:latin typeface="+mn-lt"/>
                <a:ea typeface="+mn-ea"/>
                <a:cs typeface="+mn-cs"/>
              </a:rPr>
              <a:t> : environ 16 000€ par mois**</a:t>
            </a:r>
            <a:r>
              <a:rPr lang="fr-FR" sz="1200" b="0" kern="1200" dirty="0">
                <a:solidFill>
                  <a:schemeClr val="tx1"/>
                </a:solidFill>
                <a:effectLst/>
                <a:latin typeface="+mn-lt"/>
                <a:ea typeface="+mn-ea"/>
                <a:cs typeface="+mn-cs"/>
              </a:rPr>
              <a:t>.</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**Avec </a:t>
            </a:r>
            <a:r>
              <a:rPr lang="fr-FR" sz="1200" b="1" kern="1200" dirty="0" err="1">
                <a:solidFill>
                  <a:schemeClr val="tx1"/>
                </a:solidFill>
                <a:effectLst/>
                <a:latin typeface="+mn-lt"/>
                <a:ea typeface="+mn-ea"/>
                <a:cs typeface="+mn-cs"/>
              </a:rPr>
              <a:t>Nx</a:t>
            </a:r>
            <a:r>
              <a:rPr lang="fr-FR" sz="1200" b="1" kern="1200" dirty="0">
                <a:solidFill>
                  <a:schemeClr val="tx1"/>
                </a:solidFill>
                <a:effectLst/>
                <a:latin typeface="+mn-lt"/>
                <a:ea typeface="+mn-ea"/>
                <a:cs typeface="+mn-cs"/>
              </a:rPr>
              <a:t> Enterprise :**</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Grâce au cache et aux </a:t>
            </a:r>
            <a:r>
              <a:rPr lang="fr-FR" sz="1200" b="0" kern="1200" dirty="0" err="1">
                <a:solidFill>
                  <a:schemeClr val="tx1"/>
                </a:solidFill>
                <a:effectLst/>
                <a:latin typeface="+mn-lt"/>
                <a:ea typeface="+mn-ea"/>
                <a:cs typeface="+mn-cs"/>
              </a:rPr>
              <a:t>affected</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commands</a:t>
            </a:r>
            <a:r>
              <a:rPr lang="fr-FR" sz="1200" b="0" kern="1200" dirty="0">
                <a:solidFill>
                  <a:schemeClr val="tx1"/>
                </a:solidFill>
                <a:effectLst/>
                <a:latin typeface="+mn-lt"/>
                <a:ea typeface="+mn-ea"/>
                <a:cs typeface="+mn-cs"/>
              </a:rPr>
              <a:t>, votre temps CI/CD moyen tombe à 8 minutes par commit. C'est 75% de réduction ! L'infrastructure avec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Enterprise coûte environ 2000€/mois - oui, c'est plus cher que le plan gratuit, mais regardez la suite.</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Le temps d'attente des développeurs tombe à 1 heure par jour. En coût salarial, ça représente 3 000€ par mois au lieu de 15 000€.</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**Total avec </a:t>
            </a:r>
            <a:r>
              <a:rPr lang="fr-FR" sz="1200" b="1" kern="1200" dirty="0" err="1">
                <a:solidFill>
                  <a:schemeClr val="tx1"/>
                </a:solidFill>
                <a:effectLst/>
                <a:latin typeface="+mn-lt"/>
                <a:ea typeface="+mn-ea"/>
                <a:cs typeface="+mn-cs"/>
              </a:rPr>
              <a:t>Nx</a:t>
            </a:r>
            <a:r>
              <a:rPr lang="fr-FR" sz="1200" b="1" kern="1200" dirty="0">
                <a:solidFill>
                  <a:schemeClr val="tx1"/>
                </a:solidFill>
                <a:effectLst/>
                <a:latin typeface="+mn-lt"/>
                <a:ea typeface="+mn-ea"/>
                <a:cs typeface="+mn-cs"/>
              </a:rPr>
              <a:t> : environ 5 000€ par mois**</a:t>
            </a:r>
            <a:r>
              <a:rPr lang="fr-FR" sz="1200" b="0" kern="1200" dirty="0">
                <a:solidFill>
                  <a:schemeClr val="tx1"/>
                </a:solidFill>
                <a:effectLst/>
                <a:latin typeface="+mn-lt"/>
                <a:ea typeface="+mn-ea"/>
                <a:cs typeface="+mn-cs"/>
              </a:rPr>
              <a:t>.</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**Le ROI pour Generali :**</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Économie mensuelle : </a:t>
            </a:r>
            <a:r>
              <a:rPr lang="fr-FR" sz="1200" b="1" kern="1200" dirty="0">
                <a:solidFill>
                  <a:schemeClr val="tx1"/>
                </a:solidFill>
                <a:effectLst/>
                <a:latin typeface="+mn-lt"/>
                <a:ea typeface="+mn-ea"/>
                <a:cs typeface="+mn-cs"/>
              </a:rPr>
              <a:t>**11 000€**</a:t>
            </a: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Économie annuelle : </a:t>
            </a:r>
            <a:r>
              <a:rPr lang="fr-FR" sz="1200" b="1" kern="1200" dirty="0">
                <a:solidFill>
                  <a:schemeClr val="tx1"/>
                </a:solidFill>
                <a:effectLst/>
                <a:latin typeface="+mn-lt"/>
                <a:ea typeface="+mn-ea"/>
                <a:cs typeface="+mn-cs"/>
              </a:rPr>
              <a:t>**132 000€**</a:t>
            </a: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Retour sur investissement : </a:t>
            </a:r>
            <a:r>
              <a:rPr lang="fr-FR" sz="1200" b="1" kern="1200" dirty="0">
                <a:solidFill>
                  <a:schemeClr val="tx1"/>
                </a:solidFill>
                <a:effectLst/>
                <a:latin typeface="+mn-lt"/>
                <a:ea typeface="+mn-ea"/>
                <a:cs typeface="+mn-cs"/>
              </a:rPr>
              <a:t>**moins d'un mois**</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Et rappelez-vous, c'est juste pour une équipe de 10 développeurs. Multipliez ça par le nombre d'équipes chez Generali, et vous voyez l'impact colossal. Si Generali a 10 équipes de 10 développeurs, on parle de plus d'un million d'euros d'économies par an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kern="1200" dirty="0">
                <a:solidFill>
                  <a:schemeClr val="tx1"/>
                </a:solidFill>
                <a:effectLst/>
                <a:latin typeface="+mn-lt"/>
                <a:ea typeface="+mn-ea"/>
                <a:cs typeface="+mn-cs"/>
              </a:rPr>
              <a:t>**"Au-delà du ROI financier que nous venons de voir, </a:t>
            </a:r>
            <a:r>
              <a:rPr lang="fr-FR" sz="1200" b="1" kern="1200" dirty="0" err="1">
                <a:solidFill>
                  <a:schemeClr val="tx1"/>
                </a:solidFill>
                <a:effectLst/>
                <a:latin typeface="+mn-lt"/>
                <a:ea typeface="+mn-ea"/>
                <a:cs typeface="+mn-cs"/>
              </a:rPr>
              <a:t>Nx</a:t>
            </a:r>
            <a:r>
              <a:rPr lang="fr-FR" sz="1200" b="1" kern="1200" dirty="0">
                <a:solidFill>
                  <a:schemeClr val="tx1"/>
                </a:solidFill>
                <a:effectLst/>
                <a:latin typeface="+mn-lt"/>
                <a:ea typeface="+mn-ea"/>
                <a:cs typeface="+mn-cs"/>
              </a:rPr>
              <a:t> apporte des bénéfices concrets et mesurables dans plusieurs domaines.**</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**En termes de Performance :**</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On parle de </a:t>
            </a:r>
            <a:r>
              <a:rPr lang="fr-FR" sz="1200" b="1" kern="1200" dirty="0">
                <a:solidFill>
                  <a:schemeClr val="tx1"/>
                </a:solidFill>
                <a:effectLst/>
                <a:latin typeface="+mn-lt"/>
                <a:ea typeface="+mn-ea"/>
                <a:cs typeface="+mn-cs"/>
              </a:rPr>
              <a:t>**70% de réduction du temps CI/CD**</a:t>
            </a:r>
            <a:r>
              <a:rPr lang="fr-FR" sz="1200" b="0" kern="1200" dirty="0">
                <a:solidFill>
                  <a:schemeClr val="tx1"/>
                </a:solidFill>
                <a:effectLst/>
                <a:latin typeface="+mn-lt"/>
                <a:ea typeface="+mn-ea"/>
                <a:cs typeface="+mn-cs"/>
              </a:rPr>
              <a:t>. C'est énorme ! Votre pipeline qui prenait 30 minutes passe à 10 minutes ou moins.</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Les </a:t>
            </a:r>
            <a:r>
              <a:rPr lang="fr-FR" sz="1200" b="0" kern="1200" dirty="0" err="1">
                <a:solidFill>
                  <a:schemeClr val="tx1"/>
                </a:solidFill>
                <a:effectLst/>
                <a:latin typeface="+mn-lt"/>
                <a:ea typeface="+mn-ea"/>
                <a:cs typeface="+mn-cs"/>
              </a:rPr>
              <a:t>builds</a:t>
            </a:r>
            <a:r>
              <a:rPr lang="fr-FR" sz="1200" b="0" kern="1200" dirty="0">
                <a:solidFill>
                  <a:schemeClr val="tx1"/>
                </a:solidFill>
                <a:effectLst/>
                <a:latin typeface="+mn-lt"/>
                <a:ea typeface="+mn-ea"/>
                <a:cs typeface="+mn-cs"/>
              </a:rPr>
              <a:t> peuvent être jusqu'à </a:t>
            </a:r>
            <a:r>
              <a:rPr lang="fr-FR" sz="1200" b="1" kern="1200" dirty="0">
                <a:solidFill>
                  <a:schemeClr val="tx1"/>
                </a:solidFill>
                <a:effectLst/>
                <a:latin typeface="+mn-lt"/>
                <a:ea typeface="+mn-ea"/>
                <a:cs typeface="+mn-cs"/>
              </a:rPr>
              <a:t>**300 fois plus rapides**</a:t>
            </a:r>
            <a:r>
              <a:rPr lang="fr-FR" sz="1200" b="0" kern="1200" dirty="0">
                <a:solidFill>
                  <a:schemeClr val="tx1"/>
                </a:solidFill>
                <a:effectLst/>
                <a:latin typeface="+mn-lt"/>
                <a:ea typeface="+mn-ea"/>
                <a:cs typeface="+mn-cs"/>
              </a:rPr>
              <a:t> grâce au cache. Vous passez de 30 secondes à 0,1 seconde. Ça change complètement le workflow quotidien.</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Et vous réduisez de </a:t>
            </a:r>
            <a:r>
              <a:rPr lang="fr-FR" sz="1200" b="1" kern="1200" dirty="0">
                <a:solidFill>
                  <a:schemeClr val="tx1"/>
                </a:solidFill>
                <a:effectLst/>
                <a:latin typeface="+mn-lt"/>
                <a:ea typeface="+mn-ea"/>
                <a:cs typeface="+mn-cs"/>
              </a:rPr>
              <a:t>**50% vos ressources d'infrastructure**</a:t>
            </a:r>
            <a:r>
              <a:rPr lang="fr-FR" sz="1200" b="0" kern="1200" dirty="0">
                <a:solidFill>
                  <a:schemeClr val="tx1"/>
                </a:solidFill>
                <a:effectLst/>
                <a:latin typeface="+mn-lt"/>
                <a:ea typeface="+mn-ea"/>
                <a:cs typeface="+mn-cs"/>
              </a:rPr>
              <a:t>. Moins de temps de calcul, moins de serveurs CI nécessaires, donc moins de coûts.</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**En termes de Productivité :**</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L'impact le plus important, c'est </a:t>
            </a:r>
            <a:r>
              <a:rPr lang="fr-FR" sz="1200" b="1" kern="1200" dirty="0">
                <a:solidFill>
                  <a:schemeClr val="tx1"/>
                </a:solidFill>
                <a:effectLst/>
                <a:latin typeface="+mn-lt"/>
                <a:ea typeface="+mn-ea"/>
                <a:cs typeface="+mn-cs"/>
              </a:rPr>
              <a:t>**+40% de productivité développeur**</a:t>
            </a:r>
            <a:r>
              <a:rPr lang="fr-FR" sz="1200" b="0" kern="1200" dirty="0">
                <a:solidFill>
                  <a:schemeClr val="tx1"/>
                </a:solidFill>
                <a:effectLst/>
                <a:latin typeface="+mn-lt"/>
                <a:ea typeface="+mn-ea"/>
                <a:cs typeface="+mn-cs"/>
              </a:rPr>
              <a:t>. Comment ? Grâce au feedback instantané du cache, les développeurs ne perdent plus de temps à attendre. Ils restent dans leur flow.</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Le feedback instantané élimine le contexte </a:t>
            </a:r>
            <a:r>
              <a:rPr lang="fr-FR" sz="1200" b="0" kern="1200" dirty="0" err="1">
                <a:solidFill>
                  <a:schemeClr val="tx1"/>
                </a:solidFill>
                <a:effectLst/>
                <a:latin typeface="+mn-lt"/>
                <a:ea typeface="+mn-ea"/>
                <a:cs typeface="+mn-cs"/>
              </a:rPr>
              <a:t>switching</a:t>
            </a:r>
            <a:r>
              <a:rPr lang="fr-FR" sz="1200" b="0" kern="1200" dirty="0">
                <a:solidFill>
                  <a:schemeClr val="tx1"/>
                </a:solidFill>
                <a:effectLst/>
                <a:latin typeface="+mn-lt"/>
                <a:ea typeface="+mn-ea"/>
                <a:cs typeface="+mn-cs"/>
              </a:rPr>
              <a:t>. Un développeur qui attend 5 minutes entre chaque test perd sa concentration. Avec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le test est instantané, il reste concentré.</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**En termes de Qualité :**</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L'architecture devient claire et maintenable. Quand vous regardez le graphe de dépendances, vous comprenez immédiatement comment tout est organisé.</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Le code partagé signifie moins de duplication. Fini les copier-coller entre projets, fini les bugs de synchronisation.</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Et avec les </a:t>
            </a:r>
            <a:r>
              <a:rPr lang="fr-FR" sz="1200" b="0" kern="1200" dirty="0" err="1">
                <a:solidFill>
                  <a:schemeClr val="tx1"/>
                </a:solidFill>
                <a:effectLst/>
                <a:latin typeface="+mn-lt"/>
                <a:ea typeface="+mn-ea"/>
                <a:cs typeface="+mn-cs"/>
              </a:rPr>
              <a:t>affected</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commands</a:t>
            </a:r>
            <a:r>
              <a:rPr lang="fr-FR" sz="1200" b="0" kern="1200" dirty="0">
                <a:solidFill>
                  <a:schemeClr val="tx1"/>
                </a:solidFill>
                <a:effectLst/>
                <a:latin typeface="+mn-lt"/>
                <a:ea typeface="+mn-ea"/>
                <a:cs typeface="+mn-cs"/>
              </a:rPr>
              <a:t>, vous avez des tests automatisés sur tout changement. Impossible d'oublier de tester un projet impacté.</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**Et il y a aussi des bénéfices non-quantifiables mais tout aussi importants :**</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Une meilleure expérience développeur. Les équipes sont plus heureuses quand leurs outils fonctionnent bien.</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La collaboration est facilitée. Tout le monde travaille dans le même repository avec les mêmes outils.</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La scalabilité pour la croissance. Vous pouvez ajouter des projets sans que ça devienne ingérable.</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Et vous accumulez moins de dette technique. La structure imposée par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vous force à bien faire les choses dès le départ.</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C'est un investissement qui paie sur tous les plans : performance, productivité, qualité, et expérience d'équipe."</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kern="1200" dirty="0">
                <a:solidFill>
                  <a:schemeClr val="tx1"/>
                </a:solidFill>
                <a:effectLst/>
                <a:latin typeface="+mn-lt"/>
                <a:ea typeface="+mn-ea"/>
                <a:cs typeface="+mn-cs"/>
              </a:rPr>
              <a:t>**"Pour résumer, retenez ces 3 points clés sur </a:t>
            </a:r>
            <a:r>
              <a:rPr lang="fr-FR" sz="1200" b="1" kern="1200" dirty="0" err="1">
                <a:solidFill>
                  <a:schemeClr val="tx1"/>
                </a:solidFill>
                <a:effectLst/>
                <a:latin typeface="+mn-lt"/>
                <a:ea typeface="+mn-ea"/>
                <a:cs typeface="+mn-cs"/>
              </a:rPr>
              <a:t>Nx</a:t>
            </a:r>
            <a:r>
              <a:rPr lang="fr-FR" sz="1200" b="1" kern="1200" dirty="0">
                <a:solidFill>
                  <a:schemeClr val="tx1"/>
                </a:solidFill>
                <a:effectLst/>
                <a:latin typeface="+mn-lt"/>
                <a:ea typeface="+mn-ea"/>
                <a:cs typeface="+mn-cs"/>
              </a:rPr>
              <a:t>.**</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**1. 🏗️ Architecture Moderne**</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Avec un monorepo structuré et scalable, un graphe de dépendances interactif qui vous donne une visibilité totale, et la possibilité de partager du code entre toutes vos applications. Comme on l'a vu avec </a:t>
            </a:r>
            <a:r>
              <a:rPr lang="fr-FR" sz="1200" b="0" kern="1200" dirty="0" err="1">
                <a:solidFill>
                  <a:schemeClr val="tx1"/>
                </a:solidFill>
                <a:effectLst/>
                <a:latin typeface="+mn-lt"/>
                <a:ea typeface="+mn-ea"/>
                <a:cs typeface="+mn-cs"/>
              </a:rPr>
              <a:t>TaskFlow</a:t>
            </a:r>
            <a:r>
              <a:rPr lang="fr-FR" sz="1200" b="0" kern="1200" dirty="0">
                <a:solidFill>
                  <a:schemeClr val="tx1"/>
                </a:solidFill>
                <a:effectLst/>
                <a:latin typeface="+mn-lt"/>
                <a:ea typeface="+mn-ea"/>
                <a:cs typeface="+mn-cs"/>
              </a:rPr>
              <a:t>, le frontend et le backend partagent les mêmes types.</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**2. ⚡ Performance Exceptionnelle**</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Grâce au cache intelligent local et distribué, aux </a:t>
            </a:r>
            <a:r>
              <a:rPr lang="fr-FR" sz="1200" b="0" kern="1200" dirty="0" err="1">
                <a:solidFill>
                  <a:schemeClr val="tx1"/>
                </a:solidFill>
                <a:effectLst/>
                <a:latin typeface="+mn-lt"/>
                <a:ea typeface="+mn-ea"/>
                <a:cs typeface="+mn-cs"/>
              </a:rPr>
              <a:t>affected</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commands</a:t>
            </a:r>
            <a:r>
              <a:rPr lang="fr-FR" sz="1200" b="0" kern="1200" dirty="0">
                <a:solidFill>
                  <a:schemeClr val="tx1"/>
                </a:solidFill>
                <a:effectLst/>
                <a:latin typeface="+mn-lt"/>
                <a:ea typeface="+mn-ea"/>
                <a:cs typeface="+mn-cs"/>
              </a:rPr>
              <a:t> qui réduisent le temps CI de 60 à 70%, et des </a:t>
            </a:r>
            <a:r>
              <a:rPr lang="fr-FR" sz="1200" b="0" kern="1200" dirty="0" err="1">
                <a:solidFill>
                  <a:schemeClr val="tx1"/>
                </a:solidFill>
                <a:effectLst/>
                <a:latin typeface="+mn-lt"/>
                <a:ea typeface="+mn-ea"/>
                <a:cs typeface="+mn-cs"/>
              </a:rPr>
              <a:t>builds</a:t>
            </a:r>
            <a:r>
              <a:rPr lang="fr-FR" sz="1200" b="0" kern="1200" dirty="0">
                <a:solidFill>
                  <a:schemeClr val="tx1"/>
                </a:solidFill>
                <a:effectLst/>
                <a:latin typeface="+mn-lt"/>
                <a:ea typeface="+mn-ea"/>
                <a:cs typeface="+mn-cs"/>
              </a:rPr>
              <a:t> qui peuvent être jusqu'à 300 fois plus rapides. C'est du temps gagné à chaque commit.</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**3. 🚀 ROI Prouvé**</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Avec notre exemple, on parle de 150 000€ d'économies par an pour une équipe de 10 développeurs, et un retour sur investissement en moins d'un mois. Et ces chiffres ne font qu'augmenter avec la taille de l'équipe.</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C'est ça,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 architecture, performance, et ROI."</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kern="1200" dirty="0">
                <a:solidFill>
                  <a:schemeClr val="tx1"/>
                </a:solidFill>
                <a:effectLst/>
                <a:latin typeface="+mn-lt"/>
                <a:ea typeface="+mn-ea"/>
                <a:cs typeface="+mn-cs"/>
              </a:rPr>
              <a:t>**"Notre application </a:t>
            </a:r>
            <a:r>
              <a:rPr lang="fr-FR" sz="1200" b="1" kern="1200" dirty="0" err="1">
                <a:solidFill>
                  <a:schemeClr val="tx1"/>
                </a:solidFill>
                <a:effectLst/>
                <a:latin typeface="+mn-lt"/>
                <a:ea typeface="+mn-ea"/>
                <a:cs typeface="+mn-cs"/>
              </a:rPr>
              <a:t>TaskFlow</a:t>
            </a:r>
            <a:r>
              <a:rPr lang="fr-FR" sz="1200" b="1" kern="1200" dirty="0">
                <a:solidFill>
                  <a:schemeClr val="tx1"/>
                </a:solidFill>
                <a:effectLst/>
                <a:latin typeface="+mn-lt"/>
                <a:ea typeface="+mn-ea"/>
                <a:cs typeface="+mn-cs"/>
              </a:rPr>
              <a:t> démontre concrètement tout ce qu'on vient de voir.**</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 4 applications avec leurs tests E2E</a:t>
            </a:r>
          </a:p>
          <a:p>
            <a:r>
              <a:rPr lang="fr-FR" sz="1200" b="0" kern="1200" dirty="0">
                <a:solidFill>
                  <a:schemeClr val="tx1"/>
                </a:solidFill>
                <a:effectLst/>
                <a:latin typeface="+mn-lt"/>
                <a:ea typeface="+mn-ea"/>
                <a:cs typeface="+mn-cs"/>
              </a:rPr>
              <a:t>✓ 3 librairies partagées entre le frontend et le backend</a:t>
            </a:r>
          </a:p>
          <a:p>
            <a:r>
              <a:rPr lang="fr-FR" sz="1200" b="0" kern="1200" dirty="0">
                <a:solidFill>
                  <a:schemeClr val="tx1"/>
                </a:solidFill>
                <a:effectLst/>
                <a:latin typeface="+mn-lt"/>
                <a:ea typeface="+mn-ea"/>
                <a:cs typeface="+mn-cs"/>
              </a:rPr>
              <a:t>✓ Des types communs qui évitent toute duplication</a:t>
            </a:r>
          </a:p>
          <a:p>
            <a:r>
              <a:rPr lang="fr-FR" sz="1200" b="0" kern="1200" dirty="0">
                <a:solidFill>
                  <a:schemeClr val="tx1"/>
                </a:solidFill>
                <a:effectLst/>
                <a:latin typeface="+mn-lt"/>
                <a:ea typeface="+mn-ea"/>
                <a:cs typeface="+mn-cs"/>
              </a:rPr>
              <a:t>✓ Un cache qui rend les </a:t>
            </a:r>
            <a:r>
              <a:rPr lang="fr-FR" sz="1200" b="0" kern="1200" dirty="0" err="1">
                <a:solidFill>
                  <a:schemeClr val="tx1"/>
                </a:solidFill>
                <a:effectLst/>
                <a:latin typeface="+mn-lt"/>
                <a:ea typeface="+mn-ea"/>
                <a:cs typeface="+mn-cs"/>
              </a:rPr>
              <a:t>builds</a:t>
            </a:r>
            <a:r>
              <a:rPr lang="fr-FR" sz="1200" b="0" kern="1200" dirty="0">
                <a:solidFill>
                  <a:schemeClr val="tx1"/>
                </a:solidFill>
                <a:effectLst/>
                <a:latin typeface="+mn-lt"/>
                <a:ea typeface="+mn-ea"/>
                <a:cs typeface="+mn-cs"/>
              </a:rPr>
              <a:t> instantanés</a:t>
            </a:r>
          </a:p>
          <a:p>
            <a:r>
              <a:rPr lang="fr-FR" sz="1200" b="0" kern="1200" dirty="0">
                <a:solidFill>
                  <a:schemeClr val="tx1"/>
                </a:solidFill>
                <a:effectLst/>
                <a:latin typeface="+mn-lt"/>
                <a:ea typeface="+mn-ea"/>
                <a:cs typeface="+mn-cs"/>
              </a:rPr>
              <a:t>✓ Un CI/CD optimisé avec les </a:t>
            </a:r>
            <a:r>
              <a:rPr lang="fr-FR" sz="1200" b="0" kern="1200" dirty="0" err="1">
                <a:solidFill>
                  <a:schemeClr val="tx1"/>
                </a:solidFill>
                <a:effectLst/>
                <a:latin typeface="+mn-lt"/>
                <a:ea typeface="+mn-ea"/>
                <a:cs typeface="+mn-cs"/>
              </a:rPr>
              <a:t>affected</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commands</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C'est un exemple réel, pas un cas d'école. C'est exactement ce que vous pouvez faire dans vos projets.</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**Si vous voulez adopter </a:t>
            </a:r>
            <a:r>
              <a:rPr lang="fr-FR" sz="1200" b="1" kern="1200" dirty="0" err="1">
                <a:solidFill>
                  <a:schemeClr val="tx1"/>
                </a:solidFill>
                <a:effectLst/>
                <a:latin typeface="+mn-lt"/>
                <a:ea typeface="+mn-ea"/>
                <a:cs typeface="+mn-cs"/>
              </a:rPr>
              <a:t>Nx</a:t>
            </a:r>
            <a:r>
              <a:rPr lang="fr-FR" sz="1200" b="1" kern="1200" dirty="0">
                <a:solidFill>
                  <a:schemeClr val="tx1"/>
                </a:solidFill>
                <a:effectLst/>
                <a:latin typeface="+mn-lt"/>
                <a:ea typeface="+mn-ea"/>
                <a:cs typeface="+mn-cs"/>
              </a:rPr>
              <a:t>, voici mes recommandations :**</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**Court terme**</a:t>
            </a:r>
            <a:r>
              <a:rPr lang="fr-FR" sz="1200" b="0" kern="1200" dirty="0">
                <a:solidFill>
                  <a:schemeClr val="tx1"/>
                </a:solidFill>
                <a:effectLst/>
                <a:latin typeface="+mn-lt"/>
                <a:ea typeface="+mn-ea"/>
                <a:cs typeface="+mn-cs"/>
              </a:rPr>
              <a:t> (2-4 semaines) : Faites une analyse de votre projet actuel, identifiez quels modules pourraient être extraits en librairies, et lancez un POC sur un module pilote. Commencez petit, validez l'approche.</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**Moyen terme**</a:t>
            </a:r>
            <a:r>
              <a:rPr lang="fr-FR" sz="1200" b="0" kern="1200" dirty="0">
                <a:solidFill>
                  <a:schemeClr val="tx1"/>
                </a:solidFill>
                <a:effectLst/>
                <a:latin typeface="+mn-lt"/>
                <a:ea typeface="+mn-ea"/>
                <a:cs typeface="+mn-cs"/>
              </a:rPr>
              <a:t> (2-3 mois) : Migration progressive vers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On ne migre pas tout d'un coup. Module par module, on crée les librairies partagées, on configure le CI/CD avec les </a:t>
            </a:r>
            <a:r>
              <a:rPr lang="fr-FR" sz="1200" b="0" kern="1200" dirty="0" err="1">
                <a:solidFill>
                  <a:schemeClr val="tx1"/>
                </a:solidFill>
                <a:effectLst/>
                <a:latin typeface="+mn-lt"/>
                <a:ea typeface="+mn-ea"/>
                <a:cs typeface="+mn-cs"/>
              </a:rPr>
              <a:t>affected</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commands</a:t>
            </a:r>
            <a:r>
              <a:rPr lang="fr-FR" sz="1200" b="0" kern="1200" dirty="0">
                <a:solidFill>
                  <a:schemeClr val="tx1"/>
                </a:solidFill>
                <a:effectLst/>
                <a:latin typeface="+mn-lt"/>
                <a:ea typeface="+mn-ea"/>
                <a:cs typeface="+mn-cs"/>
              </a:rPr>
              <a:t>, et on active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Cloud.</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**Long terme**</a:t>
            </a:r>
            <a:r>
              <a:rPr lang="fr-FR" sz="1200" b="0" kern="1200" dirty="0">
                <a:solidFill>
                  <a:schemeClr val="tx1"/>
                </a:solidFill>
                <a:effectLst/>
                <a:latin typeface="+mn-lt"/>
                <a:ea typeface="+mn-ea"/>
                <a:cs typeface="+mn-cs"/>
              </a:rPr>
              <a:t> : Optimisation continue, formation de l'équipe, et expansion du monorepo.</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**Pour commencer dès maintenant :**</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Vous pouvez tester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localement en 5 minutes avec `</a:t>
            </a:r>
            <a:r>
              <a:rPr lang="fr-FR" sz="1200" b="0" kern="1200" dirty="0" err="1">
                <a:solidFill>
                  <a:schemeClr val="tx1"/>
                </a:solidFill>
                <a:effectLst/>
                <a:latin typeface="+mn-lt"/>
                <a:ea typeface="+mn-ea"/>
                <a:cs typeface="+mn-cs"/>
              </a:rPr>
              <a:t>npx</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create-nx-workspace@latest</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demo-nx</a:t>
            </a:r>
            <a:r>
              <a:rPr lang="fr-FR" sz="1200" b="0" kern="1200" dirty="0">
                <a:solidFill>
                  <a:schemeClr val="tx1"/>
                </a:solidFill>
                <a:effectLst/>
                <a:latin typeface="+mn-lt"/>
                <a:ea typeface="+mn-ea"/>
                <a:cs typeface="+mn-cs"/>
              </a:rPr>
              <a:t>`.</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Ou explorer notre application </a:t>
            </a:r>
            <a:r>
              <a:rPr lang="fr-FR" sz="1200" b="0" kern="1200" dirty="0" err="1">
                <a:solidFill>
                  <a:schemeClr val="tx1"/>
                </a:solidFill>
                <a:effectLst/>
                <a:latin typeface="+mn-lt"/>
                <a:ea typeface="+mn-ea"/>
                <a:cs typeface="+mn-cs"/>
              </a:rPr>
              <a:t>TaskFlow</a:t>
            </a:r>
            <a:r>
              <a:rPr lang="fr-FR" sz="1200" b="0" kern="1200" dirty="0">
                <a:solidFill>
                  <a:schemeClr val="tx1"/>
                </a:solidFill>
                <a:effectLst/>
                <a:latin typeface="+mn-lt"/>
                <a:ea typeface="+mn-ea"/>
                <a:cs typeface="+mn-cs"/>
              </a:rPr>
              <a:t> en clonant le repo.</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Toute la documentation est disponible sur </a:t>
            </a:r>
            <a:r>
              <a:rPr lang="fr-FR" sz="1200" b="0" kern="1200" dirty="0" err="1">
                <a:solidFill>
                  <a:schemeClr val="tx1"/>
                </a:solidFill>
                <a:effectLst/>
                <a:latin typeface="+mn-lt"/>
                <a:ea typeface="+mn-ea"/>
                <a:cs typeface="+mn-cs"/>
              </a:rPr>
              <a:t>nx.dev</a:t>
            </a:r>
            <a:r>
              <a:rPr lang="fr-FR" sz="1200" b="0" kern="1200" dirty="0">
                <a:solidFill>
                  <a:schemeClr val="tx1"/>
                </a:solidFill>
                <a:effectLst/>
                <a:latin typeface="+mn-lt"/>
                <a:ea typeface="+mn-ea"/>
                <a:cs typeface="+mn-cs"/>
              </a:rPr>
              <a:t>, avec des cours gratuits sur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Learn</a:t>
            </a:r>
            <a:r>
              <a:rPr lang="fr-FR" sz="1200" b="0" kern="1200" dirty="0">
                <a:solidFill>
                  <a:schemeClr val="tx1"/>
                </a:solidFill>
                <a:effectLst/>
                <a:latin typeface="+mn-lt"/>
                <a:ea typeface="+mn-ea"/>
                <a:cs typeface="+mn-cs"/>
              </a:rPr>
              <a:t>, et une communauté active sur Discord."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kern="1200" dirty="0">
                <a:solidFill>
                  <a:schemeClr val="tx1"/>
                </a:solidFill>
                <a:effectLst/>
                <a:latin typeface="+mn-lt"/>
                <a:ea typeface="+mn-ea"/>
                <a:cs typeface="+mn-cs"/>
              </a:rPr>
              <a:t>**"Et maintenant, place à la démo live ! 🚀**</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Pendant les 30 prochaines minutes, je vais vous montrer </a:t>
            </a:r>
            <a:r>
              <a:rPr lang="fr-FR" sz="1200" b="1" kern="1200" dirty="0">
                <a:solidFill>
                  <a:schemeClr val="tx1"/>
                </a:solidFill>
                <a:effectLst/>
                <a:latin typeface="+mn-lt"/>
                <a:ea typeface="+mn-ea"/>
                <a:cs typeface="+mn-cs"/>
              </a:rPr>
              <a:t>**5 scénarios pratiques**</a:t>
            </a:r>
            <a:r>
              <a:rPr lang="fr-FR" sz="1200" b="0" kern="1200" dirty="0">
                <a:solidFill>
                  <a:schemeClr val="tx1"/>
                </a:solidFill>
                <a:effectLst/>
                <a:latin typeface="+mn-lt"/>
                <a:ea typeface="+mn-ea"/>
                <a:cs typeface="+mn-cs"/>
              </a:rPr>
              <a:t> en direct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1. </a:t>
            </a:r>
            <a:r>
              <a:rPr lang="fr-FR" sz="1200" b="1" kern="1200" dirty="0">
                <a:solidFill>
                  <a:schemeClr val="tx1"/>
                </a:solidFill>
                <a:effectLst/>
                <a:latin typeface="+mn-lt"/>
                <a:ea typeface="+mn-ea"/>
                <a:cs typeface="+mn-cs"/>
              </a:rPr>
              <a:t>**Explorer le </a:t>
            </a:r>
            <a:r>
              <a:rPr lang="fr-FR" sz="1200" b="1" kern="1200" dirty="0" err="1">
                <a:solidFill>
                  <a:schemeClr val="tx1"/>
                </a:solidFill>
                <a:effectLst/>
                <a:latin typeface="+mn-lt"/>
                <a:ea typeface="+mn-ea"/>
                <a:cs typeface="+mn-cs"/>
              </a:rPr>
              <a:t>workspace</a:t>
            </a:r>
            <a:r>
              <a:rPr lang="fr-FR" sz="1200" b="1" kern="1200" dirty="0">
                <a:solidFill>
                  <a:schemeClr val="tx1"/>
                </a:solidFill>
                <a:effectLst/>
                <a:latin typeface="+mn-lt"/>
                <a:ea typeface="+mn-ea"/>
                <a:cs typeface="+mn-cs"/>
              </a:rPr>
              <a:t>**</a:t>
            </a:r>
            <a:r>
              <a:rPr lang="fr-FR" sz="1200" b="0" kern="1200" dirty="0">
                <a:solidFill>
                  <a:schemeClr val="tx1"/>
                </a:solidFill>
                <a:effectLst/>
                <a:latin typeface="+mn-lt"/>
                <a:ea typeface="+mn-ea"/>
                <a:cs typeface="+mn-cs"/>
              </a:rPr>
              <a:t> pour comprendre sa structure</a:t>
            </a:r>
          </a:p>
          <a:p>
            <a:r>
              <a:rPr lang="fr-FR" sz="1200" b="0" kern="1200" dirty="0">
                <a:solidFill>
                  <a:schemeClr val="tx1"/>
                </a:solidFill>
                <a:effectLst/>
                <a:latin typeface="+mn-lt"/>
                <a:ea typeface="+mn-ea"/>
                <a:cs typeface="+mn-cs"/>
              </a:rPr>
              <a:t>2. </a:t>
            </a:r>
            <a:r>
              <a:rPr lang="fr-FR" sz="1200" b="1" kern="1200" dirty="0">
                <a:solidFill>
                  <a:schemeClr val="tx1"/>
                </a:solidFill>
                <a:effectLst/>
                <a:latin typeface="+mn-lt"/>
                <a:ea typeface="+mn-ea"/>
                <a:cs typeface="+mn-cs"/>
              </a:rPr>
              <a:t>**Lancer l'application**</a:t>
            </a:r>
            <a:r>
              <a:rPr lang="fr-FR" sz="1200" b="0" kern="1200" dirty="0">
                <a:solidFill>
                  <a:schemeClr val="tx1"/>
                </a:solidFill>
                <a:effectLst/>
                <a:latin typeface="+mn-lt"/>
                <a:ea typeface="+mn-ea"/>
                <a:cs typeface="+mn-cs"/>
              </a:rPr>
              <a:t> en développement local</a:t>
            </a:r>
          </a:p>
          <a:p>
            <a:r>
              <a:rPr lang="fr-FR" sz="1200" b="0" kern="1200" dirty="0">
                <a:solidFill>
                  <a:schemeClr val="tx1"/>
                </a:solidFill>
                <a:effectLst/>
                <a:latin typeface="+mn-lt"/>
                <a:ea typeface="+mn-ea"/>
                <a:cs typeface="+mn-cs"/>
              </a:rPr>
              <a:t>3. </a:t>
            </a:r>
            <a:r>
              <a:rPr lang="fr-FR" sz="1200" b="1" kern="1200" dirty="0">
                <a:solidFill>
                  <a:schemeClr val="tx1"/>
                </a:solidFill>
                <a:effectLst/>
                <a:latin typeface="+mn-lt"/>
                <a:ea typeface="+mn-ea"/>
                <a:cs typeface="+mn-cs"/>
              </a:rPr>
              <a:t>**Tester le cache**</a:t>
            </a:r>
            <a:r>
              <a:rPr lang="fr-FR" sz="1200" b="0" kern="1200" dirty="0">
                <a:solidFill>
                  <a:schemeClr val="tx1"/>
                </a:solidFill>
                <a:effectLst/>
                <a:latin typeface="+mn-lt"/>
                <a:ea typeface="+mn-ea"/>
                <a:cs typeface="+mn-cs"/>
              </a:rPr>
              <a:t> pour voir ces fameux gains de performance</a:t>
            </a:r>
          </a:p>
          <a:p>
            <a:r>
              <a:rPr lang="fr-FR" sz="1200" b="0" kern="1200" dirty="0">
                <a:solidFill>
                  <a:schemeClr val="tx1"/>
                </a:solidFill>
                <a:effectLst/>
                <a:latin typeface="+mn-lt"/>
                <a:ea typeface="+mn-ea"/>
                <a:cs typeface="+mn-cs"/>
              </a:rPr>
              <a:t>4. </a:t>
            </a:r>
            <a:r>
              <a:rPr lang="fr-FR" sz="1200" b="1" kern="1200" dirty="0">
                <a:solidFill>
                  <a:schemeClr val="tx1"/>
                </a:solidFill>
                <a:effectLst/>
                <a:latin typeface="+mn-lt"/>
                <a:ea typeface="+mn-ea"/>
                <a:cs typeface="+mn-cs"/>
              </a:rPr>
              <a:t>**Les </a:t>
            </a:r>
            <a:r>
              <a:rPr lang="fr-FR" sz="1200" b="1" kern="1200" dirty="0" err="1">
                <a:solidFill>
                  <a:schemeClr val="tx1"/>
                </a:solidFill>
                <a:effectLst/>
                <a:latin typeface="+mn-lt"/>
                <a:ea typeface="+mn-ea"/>
                <a:cs typeface="+mn-cs"/>
              </a:rPr>
              <a:t>affected</a:t>
            </a:r>
            <a:r>
              <a:rPr lang="fr-FR" sz="1200" b="1" kern="1200" dirty="0">
                <a:solidFill>
                  <a:schemeClr val="tx1"/>
                </a:solidFill>
                <a:effectLst/>
                <a:latin typeface="+mn-lt"/>
                <a:ea typeface="+mn-ea"/>
                <a:cs typeface="+mn-cs"/>
              </a:rPr>
              <a:t> </a:t>
            </a:r>
            <a:r>
              <a:rPr lang="fr-FR" sz="1200" b="1" kern="1200" dirty="0" err="1">
                <a:solidFill>
                  <a:schemeClr val="tx1"/>
                </a:solidFill>
                <a:effectLst/>
                <a:latin typeface="+mn-lt"/>
                <a:ea typeface="+mn-ea"/>
                <a:cs typeface="+mn-cs"/>
              </a:rPr>
              <a:t>commands</a:t>
            </a:r>
            <a:r>
              <a:rPr lang="fr-FR" sz="1200" b="1" kern="1200" dirty="0">
                <a:solidFill>
                  <a:schemeClr val="tx1"/>
                </a:solidFill>
                <a:effectLst/>
                <a:latin typeface="+mn-lt"/>
                <a:ea typeface="+mn-ea"/>
                <a:cs typeface="+mn-cs"/>
              </a:rPr>
              <a:t>**</a:t>
            </a:r>
            <a:r>
              <a:rPr lang="fr-FR" sz="1200" b="0" kern="1200" dirty="0">
                <a:solidFill>
                  <a:schemeClr val="tx1"/>
                </a:solidFill>
                <a:effectLst/>
                <a:latin typeface="+mn-lt"/>
                <a:ea typeface="+mn-ea"/>
                <a:cs typeface="+mn-cs"/>
              </a:rPr>
              <a:t> pour comprendre l'optimisation du CI</a:t>
            </a:r>
          </a:p>
          <a:p>
            <a:r>
              <a:rPr lang="fr-FR" sz="1200" b="0" kern="1200" dirty="0">
                <a:solidFill>
                  <a:schemeClr val="tx1"/>
                </a:solidFill>
                <a:effectLst/>
                <a:latin typeface="+mn-lt"/>
                <a:ea typeface="+mn-ea"/>
                <a:cs typeface="+mn-cs"/>
              </a:rPr>
              <a:t>5. </a:t>
            </a:r>
            <a:r>
              <a:rPr lang="fr-FR" sz="1200" b="1" kern="1200" dirty="0">
                <a:solidFill>
                  <a:schemeClr val="tx1"/>
                </a:solidFill>
                <a:effectLst/>
                <a:latin typeface="+mn-lt"/>
                <a:ea typeface="+mn-ea"/>
                <a:cs typeface="+mn-cs"/>
              </a:rPr>
              <a:t>**Le </a:t>
            </a:r>
            <a:r>
              <a:rPr lang="fr-FR" sz="1200" b="1" kern="1200" dirty="0" err="1">
                <a:solidFill>
                  <a:schemeClr val="tx1"/>
                </a:solidFill>
                <a:effectLst/>
                <a:latin typeface="+mn-lt"/>
                <a:ea typeface="+mn-ea"/>
                <a:cs typeface="+mn-cs"/>
              </a:rPr>
              <a:t>dashboard</a:t>
            </a:r>
            <a:r>
              <a:rPr lang="fr-FR" sz="1200" b="1" kern="1200" dirty="0">
                <a:solidFill>
                  <a:schemeClr val="tx1"/>
                </a:solidFill>
                <a:effectLst/>
                <a:latin typeface="+mn-lt"/>
                <a:ea typeface="+mn-ea"/>
                <a:cs typeface="+mn-cs"/>
              </a:rPr>
              <a:t> </a:t>
            </a:r>
            <a:r>
              <a:rPr lang="fr-FR" sz="1200" b="1" kern="1200" dirty="0" err="1">
                <a:solidFill>
                  <a:schemeClr val="tx1"/>
                </a:solidFill>
                <a:effectLst/>
                <a:latin typeface="+mn-lt"/>
                <a:ea typeface="+mn-ea"/>
                <a:cs typeface="+mn-cs"/>
              </a:rPr>
              <a:t>Nx</a:t>
            </a:r>
            <a:r>
              <a:rPr lang="fr-FR" sz="1200" b="1" kern="1200" dirty="0">
                <a:solidFill>
                  <a:schemeClr val="tx1"/>
                </a:solidFill>
                <a:effectLst/>
                <a:latin typeface="+mn-lt"/>
                <a:ea typeface="+mn-ea"/>
                <a:cs typeface="+mn-cs"/>
              </a:rPr>
              <a:t> Cloud**</a:t>
            </a:r>
            <a:r>
              <a:rPr lang="fr-FR" sz="1200" b="0" kern="1200" dirty="0">
                <a:solidFill>
                  <a:schemeClr val="tx1"/>
                </a:solidFill>
                <a:effectLst/>
                <a:latin typeface="+mn-lt"/>
                <a:ea typeface="+mn-ea"/>
                <a:cs typeface="+mn-cs"/>
              </a:rPr>
              <a:t> avec ses </a:t>
            </a:r>
            <a:r>
              <a:rPr lang="fr-FR" sz="1200" b="0" kern="1200" dirty="0" err="1">
                <a:solidFill>
                  <a:schemeClr val="tx1"/>
                </a:solidFill>
                <a:effectLst/>
                <a:latin typeface="+mn-lt"/>
                <a:ea typeface="+mn-ea"/>
                <a:cs typeface="+mn-cs"/>
              </a:rPr>
              <a:t>analytics</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Vous allez voir tout ça en action, en temps réel. C'est là que vous verrez vraiment la puissance de </a:t>
            </a:r>
            <a:r>
              <a:rPr lang="fr-FR" sz="1200" b="0" kern="1200" dirty="0" err="1">
                <a:solidFill>
                  <a:schemeClr val="tx1"/>
                </a:solidFill>
                <a:effectLst/>
                <a:latin typeface="+mn-lt"/>
                <a:ea typeface="+mn-ea"/>
                <a:cs typeface="+mn-cs"/>
              </a:rPr>
              <a:t>Nx</a:t>
            </a:r>
            <a:r>
              <a:rPr lang="fr-FR" sz="1200" b="0" kern="1200" dirty="0">
                <a:solidFill>
                  <a:schemeClr val="tx1"/>
                </a:solidFill>
                <a:effectLst/>
                <a:latin typeface="+mn-lt"/>
                <a:ea typeface="+mn-ea"/>
                <a:cs typeface="+mn-cs"/>
              </a:rPr>
              <a:t> !</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Allons-y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1" kern="1200" dirty="0">
                <a:solidFill>
                  <a:schemeClr val="tx1"/>
                </a:solidFill>
                <a:effectLst/>
                <a:latin typeface="+mn-lt"/>
                <a:ea typeface="+mn-ea"/>
                <a:cs typeface="+mn-cs"/>
              </a:rPr>
              <a:t>**"Voilà pour la partie théorique ! Avant de passer à la démo, avez-vous des questions sur ce qu'on vient de voir ?**</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1" kern="1200" dirty="0">
                <a:solidFill>
                  <a:schemeClr val="tx1"/>
                </a:solidFill>
                <a:effectLst/>
                <a:latin typeface="+mn-lt"/>
                <a:ea typeface="+mn-ea"/>
                <a:cs typeface="+mn-cs"/>
              </a:rPr>
              <a:t>**[Pause pour les questions]**</a:t>
            </a:r>
            <a:endParaRPr lang="fr-FR" sz="1200" b="0" kern="1200" dirty="0">
              <a:solidFill>
                <a:schemeClr val="tx1"/>
              </a:solidFill>
              <a:effectLst/>
              <a:latin typeface="+mn-lt"/>
              <a:ea typeface="+mn-ea"/>
              <a:cs typeface="+mn-cs"/>
            </a:endParaRP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Parfait ! Alors passons maintenant aux choses concrètes avec la démonstration live.</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i="1" kern="1200" dirty="0">
                <a:solidFill>
                  <a:schemeClr val="tx1"/>
                </a:solidFill>
                <a:effectLst/>
                <a:latin typeface="+mn-lt"/>
                <a:ea typeface="+mn-ea"/>
                <a:cs typeface="+mn-cs"/>
              </a:rPr>
              <a:t>_(Transition vers la démo)_</a:t>
            </a:r>
            <a:endParaRPr lang="fr-FR" sz="1200" b="0" kern="1200" dirty="0">
              <a:solidFill>
                <a:schemeClr val="tx1"/>
              </a:solidFill>
              <a:effectLst/>
              <a:latin typeface="+mn-lt"/>
              <a:ea typeface="+mn-ea"/>
              <a:cs typeface="+mn-cs"/>
            </a:endParaRPr>
          </a:p>
          <a:p>
            <a:br>
              <a:rPr lang="fr-FR" sz="1200" b="0" kern="1200">
                <a:solidFill>
                  <a:schemeClr val="tx1"/>
                </a:solidFill>
                <a:effectLst/>
                <a:latin typeface="+mn-lt"/>
                <a:ea typeface="+mn-ea"/>
                <a:cs typeface="+mn-cs"/>
              </a:rPr>
            </a:br>
            <a:endParaRPr lang="fr-FR" sz="1200" b="0" kern="120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4117</Words>
  <Application>Microsoft Macintosh PowerPoint</Application>
  <PresentationFormat>Grand écran</PresentationFormat>
  <Paragraphs>390</Paragraphs>
  <Slides>17</Slides>
  <Notes>17</Notes>
  <HiddenSlides>0</HiddenSlides>
  <MMClips>0</MMClips>
  <ScaleCrop>false</ScaleCrop>
  <HeadingPairs>
    <vt:vector size="6" baseType="variant">
      <vt:variant>
        <vt:lpstr>Polices utilisées</vt:lpstr>
      </vt:variant>
      <vt:variant>
        <vt:i4>1</vt:i4>
      </vt:variant>
      <vt:variant>
        <vt:lpstr>Thème</vt:lpstr>
      </vt:variant>
      <vt:variant>
        <vt:i4>1</vt:i4>
      </vt:variant>
      <vt:variant>
        <vt:lpstr>Titres des diapositives</vt:lpstr>
      </vt:variant>
      <vt:variant>
        <vt:i4>17</vt:i4>
      </vt:variant>
    </vt:vector>
  </HeadingPairs>
  <TitlesOfParts>
    <vt:vector size="19" baseType="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Nx : La Solution Moderne pour les Monorepos</dc:title>
  <dc:subject>PptxGenJS Presentation</dc:subject>
  <dc:creator>Created by Marp</dc:creator>
  <cp:lastModifiedBy>BEN SAID Bilel</cp:lastModifiedBy>
  <cp:revision>18</cp:revision>
  <dcterms:created xsi:type="dcterms:W3CDTF">2025-11-20T14:49:04Z</dcterms:created>
  <dcterms:modified xsi:type="dcterms:W3CDTF">2025-11-20T14:56:58Z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f4bb52-9e9d-4296-940a-59002820a53c_Enabled">
    <vt:lpwstr>true</vt:lpwstr>
  </property>
  <property fmtid="{D5CDD505-2E9C-101B-9397-08002B2CF9AE}" pid="3" name="MSIP_Label_5bf4bb52-9e9d-4296-940a-59002820a53c_SetDate">
    <vt:lpwstr>2025-11-20T14:52:28Z</vt:lpwstr>
  </property>
  <property fmtid="{D5CDD505-2E9C-101B-9397-08002B2CF9AE}" pid="4" name="MSIP_Label_5bf4bb52-9e9d-4296-940a-59002820a53c_Method">
    <vt:lpwstr>Standard</vt:lpwstr>
  </property>
  <property fmtid="{D5CDD505-2E9C-101B-9397-08002B2CF9AE}" pid="5" name="MSIP_Label_5bf4bb52-9e9d-4296-940a-59002820a53c_Name">
    <vt:lpwstr>5bf4bb52-9e9d-4296-940a-59002820a53c</vt:lpwstr>
  </property>
  <property fmtid="{D5CDD505-2E9C-101B-9397-08002B2CF9AE}" pid="6" name="MSIP_Label_5bf4bb52-9e9d-4296-940a-59002820a53c_SiteId">
    <vt:lpwstr>cbeb3ecc-6f45-4183-b5a8-088140deae5d</vt:lpwstr>
  </property>
  <property fmtid="{D5CDD505-2E9C-101B-9397-08002B2CF9AE}" pid="7" name="MSIP_Label_5bf4bb52-9e9d-4296-940a-59002820a53c_ActionId">
    <vt:lpwstr>6b8c99e0-ae8f-42da-9ec6-b7b214c92987</vt:lpwstr>
  </property>
  <property fmtid="{D5CDD505-2E9C-101B-9397-08002B2CF9AE}" pid="8" name="MSIP_Label_5bf4bb52-9e9d-4296-940a-59002820a53c_ContentBits">
    <vt:lpwstr>0</vt:lpwstr>
  </property>
  <property fmtid="{D5CDD505-2E9C-101B-9397-08002B2CF9AE}" pid="9" name="MSIP_Label_5bf4bb52-9e9d-4296-940a-59002820a53c_Tag">
    <vt:lpwstr>50, 3, 0, 1</vt:lpwstr>
  </property>
</Properties>
</file>